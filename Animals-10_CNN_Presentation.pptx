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Muhanad. I built an image classifier for 10 animal species — first a CNN from scratch, then transfer learning — and I deployed it as a live web demo. In the next few minutes I'll walk through the data, the models I compared, the results, and finish with a live demo. Headline up front: 94% test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given a photo, predict which of 10 animals it shows. The dataset is Animals-10 — about 26,000 real photos scraped from the web, across 10 species, and it's imbalanced. My approach had three stages: build a CNN from scratch, run a controlled sweep of 8 variants, then push accuracy further with transfer learning. As a bonus I shipped the winning model as a web app anyone can try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is resized to 128 by 128 and normalized to the 0–1 range. I split the data stratified — 70% train, 15% validation, 15% test — so each set keeps the same class balance, and I locked the test set away so no model sees it until the very end. Augmentation is built into the pipeline as a toggle. Notice the imbalance on the right: dog and spider have nearly 4,800 images each, while elephant and cat have under 1,700 — that becomes important when we look at the weak classes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backbone is three convolutional blocks, 32 to 64 to 128 filters. My baseline used a Flatten head and it overfit badly — a 13-point gap between training and validation. The single change that helped most was replacing Flatten with Global Average Pooling. That shrank the dense head from about 184,000 parameters down to 1,300 — which cut the overfitting AND raised accuracy to 74%. This was my best model built entirely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fight overfitting I used several levers. Global Average Pooling was the big one. On top of that: Dropout at 0.5, Early Stopping that watches validation loss and restores the best weights automatically, and the Adam optimizer. I also tested data augmentation and Batch Normalization in separate variants. The key discipline here is that I changed exactly one thing per experiment — so every comparison on the next slide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sweep on one chart. I didn't stop at one model — BatchNorm, augmentation twice, and extra depth were all tested, and none of them beat plain GAP. The deep model at the bottom actually collapsed to random guessing at learning rate 0.001 — a textbook example of why deep plain CNNs need BatchNorm or a lower learning rate. These are negative results, but they show the method. And notice the top two bars — that's transfer learning, which I'll cover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bonus — transfer learning. Instead of learning features from scratch, I reused MobileNetV2, pretrained on ImageNet, and froze it as a feature extractor. I chose MobileNetV2 because it's lightweight — it trains in about 4 minutes on CPU — yet its ImageNet features, edges, textures, shapes, transfer really well to animals. My modifications: I baked the rescale to minus-one-to-one into the model, then added a small head — Global Average Pooling, Dropout, and a 10-class softmax. Only about 13,000 trainable parameters. The result: 94% test accuracy, a 20-point jump, in a quarter of the training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set the winner scores 94.3% accuracy and a macro-F1 of 0.935. The confusion matrix on the left has a strong diagonal — most classes are above 0.92. The most important cell is cow: transfer learning took cow recall from 0.36, where the from-scratch model confused cows with horses and sheep, up to 0.82. And to be clear about method — I scored the test set only once, on this final winner, so there's no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deployed the winning model as a Gradio web app — running `python app.py` opens it locally plus a temporary public link, so the deployment bonus is fully working. I'm not running it live today, so this panel shows exactly what the app does: you upload a photo and it returns the top-3 predictions with confidence bars. And here's the story it tells — the from-scratch model missed this exact image, a spotted Appaloosa horse, because it had never seen a horse that looked like this and fell back to the majority class. The transfer model gets it right, with 93% confidence. That's the whole project in a single upload. Anyone can run it themselves from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takeaways. First, from scratch, architecture mattered — Global Average Pooling was the lever that took me to 74% and fought overfitting. Second, transfer learning got me to 94% in a fraction of the time and fixed the failures I could actually see in the demo. Along the way, augmentation never helped on this dataset, and I kept the evaluation honest — ranking on validation and scoring the test set only once. If I continued, I'd fine-tune the top MobileNetV2 layers and tackle the class imbalance directly.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jpe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1E"/>
        </a:solidFill>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2C5F2D"/>
          </a:solidFill>
          <a:ln/>
        </p:spPr>
      </p:sp>
      <p:sp>
        <p:nvSpPr>
          <p:cNvPr id="3" name="Shape 1"/>
          <p:cNvSpPr/>
          <p:nvPr/>
        </p:nvSpPr>
        <p:spPr>
          <a:xfrm>
            <a:off x="-1371600" y="4846320"/>
            <a:ext cx="3291840" cy="3291840"/>
          </a:xfrm>
          <a:prstGeom prst="ellipse">
            <a:avLst/>
          </a:prstGeom>
          <a:solidFill>
            <a:srgbClr val="2C5F2D"/>
          </a:solidFill>
          <a:ln/>
        </p:spPr>
      </p:sp>
      <p:sp>
        <p:nvSpPr>
          <p:cNvPr id="4" name="Text 2"/>
          <p:cNvSpPr/>
          <p:nvPr/>
        </p:nvSpPr>
        <p:spPr>
          <a:xfrm>
            <a:off x="731520" y="1051560"/>
            <a:ext cx="10058400" cy="457200"/>
          </a:xfrm>
          <a:prstGeom prst="rect">
            <a:avLst/>
          </a:prstGeom>
          <a:noFill/>
          <a:ln/>
        </p:spPr>
        <p:txBody>
          <a:bodyPr wrap="square" rtlCol="0" anchor="ctr"/>
          <a:lstStyle/>
          <a:p>
            <a:pPr indent="0" marL="0">
              <a:buNone/>
            </a:pPr>
            <a:r>
              <a:rPr lang="en-US" sz="1500" b="1" spc="300" kern="0" dirty="0">
                <a:solidFill>
                  <a:srgbClr val="97BC62"/>
                </a:solidFill>
                <a:latin typeface="Calibri" pitchFamily="34" charset="0"/>
                <a:ea typeface="Calibri" pitchFamily="34" charset="-122"/>
                <a:cs typeface="Calibri" pitchFamily="34" charset="-120"/>
              </a:rPr>
              <a:t>DEEP LEARNING · IMAGE CLASSIFICATION</a:t>
            </a:r>
            <a:endParaRPr lang="en-US" sz="1500" dirty="0"/>
          </a:p>
        </p:txBody>
      </p:sp>
      <p:sp>
        <p:nvSpPr>
          <p:cNvPr id="5" name="Text 3"/>
          <p:cNvSpPr/>
          <p:nvPr/>
        </p:nvSpPr>
        <p:spPr>
          <a:xfrm>
            <a:off x="731520" y="1554480"/>
            <a:ext cx="1069848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Animals-10 Classifier</a:t>
            </a:r>
            <a:endParaRPr lang="en-US" sz="5400" dirty="0"/>
          </a:p>
        </p:txBody>
      </p:sp>
      <p:sp>
        <p:nvSpPr>
          <p:cNvPr id="6" name="Text 4"/>
          <p:cNvSpPr/>
          <p:nvPr/>
        </p:nvSpPr>
        <p:spPr>
          <a:xfrm>
            <a:off x="731520" y="2697480"/>
            <a:ext cx="10515600" cy="548640"/>
          </a:xfrm>
          <a:prstGeom prst="rect">
            <a:avLst/>
          </a:prstGeom>
          <a:noFill/>
          <a:ln/>
        </p:spPr>
        <p:txBody>
          <a:bodyPr wrap="square" rtlCol="0" anchor="ctr"/>
          <a:lstStyle/>
          <a:p>
            <a:pPr indent="0" marL="0">
              <a:buNone/>
            </a:pPr>
            <a:r>
              <a:rPr lang="en-US" sz="2000" dirty="0">
                <a:solidFill>
                  <a:srgbClr val="F5F5F5"/>
                </a:solidFill>
                <a:latin typeface="Calibri" pitchFamily="34" charset="0"/>
                <a:ea typeface="Calibri" pitchFamily="34" charset="-122"/>
                <a:cs typeface="Calibri" pitchFamily="34" charset="-120"/>
              </a:rPr>
              <a:t>Building a CNN from scratch, then beating it with transfer learning</a:t>
            </a:r>
            <a:endParaRPr lang="en-US" sz="2000" dirty="0"/>
          </a:p>
        </p:txBody>
      </p:sp>
      <p:sp>
        <p:nvSpPr>
          <p:cNvPr id="7" name="Text 5"/>
          <p:cNvSpPr/>
          <p:nvPr/>
        </p:nvSpPr>
        <p:spPr>
          <a:xfrm>
            <a:off x="731520" y="3291840"/>
            <a:ext cx="10058400" cy="457200"/>
          </a:xfrm>
          <a:prstGeom prst="rect">
            <a:avLst/>
          </a:prstGeom>
          <a:noFill/>
          <a:ln/>
        </p:spPr>
        <p:txBody>
          <a:bodyPr wrap="square" rtlCol="0" anchor="ctr"/>
          <a:lstStyle/>
          <a:p>
            <a:pPr indent="0" marL="0">
              <a:buNone/>
            </a:pPr>
            <a:r>
              <a:rPr lang="en-US" sz="1700" b="1" dirty="0">
                <a:solidFill>
                  <a:srgbClr val="E07A3E"/>
                </a:solidFill>
                <a:latin typeface="Calibri" pitchFamily="34" charset="0"/>
                <a:ea typeface="Calibri" pitchFamily="34" charset="-122"/>
                <a:cs typeface="Calibri" pitchFamily="34" charset="-120"/>
              </a:rPr>
              <a:t>94% test accuracy</a:t>
            </a:r>
            <a:pPr indent="0" marL="0">
              <a:buNone/>
            </a:pPr>
            <a:r>
              <a:rPr lang="en-US" sz="1700" dirty="0">
                <a:solidFill>
                  <a:srgbClr val="97BC62"/>
                </a:solidFill>
                <a:latin typeface="Calibri" pitchFamily="34" charset="0"/>
                <a:ea typeface="Calibri" pitchFamily="34" charset="-122"/>
                <a:cs typeface="Calibri" pitchFamily="34" charset="-120"/>
              </a:rPr>
              <a:t>  ·  10 animal species  ·  live web demo</a:t>
            </a:r>
            <a:endParaRPr lang="en-US" sz="1700" dirty="0"/>
          </a:p>
        </p:txBody>
      </p:sp>
      <p:pic>
        <p:nvPicPr>
          <p:cNvPr id="8" name="Image 0" descr="C:\Users\GBT H610M-\Documents\ironHack\task\project-2\data\cane_OIF-e2bexWrojgtQnAPPcUfOWQ.jpeg">    </p:cNvPr>
          <p:cNvPicPr>
            <a:picLocks noChangeAspect="1"/>
          </p:cNvPicPr>
          <p:nvPr/>
        </p:nvPicPr>
        <p:blipFill>
          <a:blip r:embed="rId1"/>
          <a:srcRect l="0" r="0" t="0" b="0"/>
          <a:stretch/>
        </p:blipFill>
        <p:spPr>
          <a:xfrm>
            <a:off x="1979676" y="4160520"/>
            <a:ext cx="1143000" cy="1143000"/>
          </a:xfrm>
          <a:prstGeom prst="ellipse">
            <a:avLst/>
          </a:prstGeom>
        </p:spPr>
      </p:pic>
      <p:pic>
        <p:nvPicPr>
          <p:cNvPr id="9" name="Image 1" descr="C:\Users\GBT H610M-\Documents\ironHack\task\project-2\data\cavallo_OIP---MGqQIhmz3OEPYP-46_xwHaFj.jpeg">    </p:cNvPr>
          <p:cNvPicPr>
            <a:picLocks noChangeAspect="1"/>
          </p:cNvPicPr>
          <p:nvPr/>
        </p:nvPicPr>
        <p:blipFill>
          <a:blip r:embed="rId2"/>
          <a:srcRect l="0" r="0" t="0" b="0"/>
          <a:stretch/>
        </p:blipFill>
        <p:spPr>
          <a:xfrm>
            <a:off x="3396996" y="4160520"/>
            <a:ext cx="1143000" cy="1143000"/>
          </a:xfrm>
          <a:prstGeom prst="ellipse">
            <a:avLst/>
          </a:prstGeom>
        </p:spPr>
      </p:pic>
      <p:pic>
        <p:nvPicPr>
          <p:cNvPr id="10" name="Image 2" descr="C:\Users\GBT H610M-\Documents\ironHack\task\project-2\data\elefante_OIP---LeldVL441fx5S66TGgVQAAAA.jpeg">    </p:cNvPr>
          <p:cNvPicPr>
            <a:picLocks noChangeAspect="1"/>
          </p:cNvPicPr>
          <p:nvPr/>
        </p:nvPicPr>
        <p:blipFill>
          <a:blip r:embed="rId3"/>
          <a:srcRect l="0" r="0" t="0" b="0"/>
          <a:stretch/>
        </p:blipFill>
        <p:spPr>
          <a:xfrm>
            <a:off x="4814316" y="4160520"/>
            <a:ext cx="1143000" cy="1143000"/>
          </a:xfrm>
          <a:prstGeom prst="ellipse">
            <a:avLst/>
          </a:prstGeom>
        </p:spPr>
      </p:pic>
      <p:pic>
        <p:nvPicPr>
          <p:cNvPr id="11" name="Image 3" descr="C:\Users\GBT H610M-\Documents\ironHack\task\project-2\data\ragno_OIP--1GKxNzkhVbR_eyVRCdp9QHaE6.jpeg">    </p:cNvPr>
          <p:cNvPicPr>
            <a:picLocks noChangeAspect="1"/>
          </p:cNvPicPr>
          <p:nvPr/>
        </p:nvPicPr>
        <p:blipFill>
          <a:blip r:embed="rId4"/>
          <a:srcRect l="0" r="0" t="0" b="0"/>
          <a:stretch/>
        </p:blipFill>
        <p:spPr>
          <a:xfrm>
            <a:off x="6231636" y="4160520"/>
            <a:ext cx="1143000" cy="1143000"/>
          </a:xfrm>
          <a:prstGeom prst="ellipse">
            <a:avLst/>
          </a:prstGeom>
        </p:spPr>
      </p:pic>
      <p:pic>
        <p:nvPicPr>
          <p:cNvPr id="12" name="Image 4" descr="C:\Users\GBT H610M-\Documents\ironHack\task\project-2\data\scoiattolo_OIP--0Yr2a_yg2hs5QgCoHAOnAHaLJ.jpeg">    </p:cNvPr>
          <p:cNvPicPr>
            <a:picLocks noChangeAspect="1"/>
          </p:cNvPicPr>
          <p:nvPr/>
        </p:nvPicPr>
        <p:blipFill>
          <a:blip r:embed="rId5"/>
          <a:srcRect l="0" r="0" t="0" b="0"/>
          <a:stretch/>
        </p:blipFill>
        <p:spPr>
          <a:xfrm>
            <a:off x="7648956" y="4160520"/>
            <a:ext cx="1143000" cy="1143000"/>
          </a:xfrm>
          <a:prstGeom prst="ellipse">
            <a:avLst/>
          </a:prstGeom>
        </p:spPr>
      </p:pic>
      <p:pic>
        <p:nvPicPr>
          <p:cNvPr id="13" name="Image 5" descr="C:\Users\GBT H610M-\Documents\ironHack\task\project-2\data\farfalla_OIP--04ndbWy7I04gsPgu9qOeQHaHs.jpeg">    </p:cNvPr>
          <p:cNvPicPr>
            <a:picLocks noChangeAspect="1"/>
          </p:cNvPicPr>
          <p:nvPr/>
        </p:nvPicPr>
        <p:blipFill>
          <a:blip r:embed="rId6"/>
          <a:srcRect l="0" r="0" t="0" b="0"/>
          <a:stretch/>
        </p:blipFill>
        <p:spPr>
          <a:xfrm>
            <a:off x="9066276" y="4160520"/>
            <a:ext cx="1143000" cy="1143000"/>
          </a:xfrm>
          <a:prstGeom prst="ellipse">
            <a:avLst/>
          </a:prstGeom>
        </p:spPr>
      </p:pic>
      <p:sp>
        <p:nvSpPr>
          <p:cNvPr id="14" name="Text 6"/>
          <p:cNvSpPr/>
          <p:nvPr/>
        </p:nvSpPr>
        <p:spPr>
          <a:xfrm>
            <a:off x="731520" y="5715000"/>
            <a:ext cx="7315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Muhanad Tello</a:t>
            </a:r>
            <a:endParaRPr lang="en-US" sz="1800" dirty="0"/>
          </a:p>
        </p:txBody>
      </p:sp>
      <p:sp>
        <p:nvSpPr>
          <p:cNvPr id="15" name="Text 7"/>
          <p:cNvSpPr/>
          <p:nvPr/>
        </p:nvSpPr>
        <p:spPr>
          <a:xfrm>
            <a:off x="731520" y="6053328"/>
            <a:ext cx="8229600" cy="365760"/>
          </a:xfrm>
          <a:prstGeom prst="rect">
            <a:avLst/>
          </a:prstGeom>
          <a:noFill/>
          <a:ln/>
        </p:spPr>
        <p:txBody>
          <a:bodyPr wrap="square" rtlCol="0" anchor="ctr"/>
          <a:lstStyle/>
          <a:p>
            <a:pPr indent="0" marL="0">
              <a:buNone/>
            </a:pPr>
            <a:r>
              <a:rPr lang="en-US" sz="1300" dirty="0">
                <a:solidFill>
                  <a:srgbClr val="97BC62"/>
                </a:solidFill>
                <a:latin typeface="Calibri" pitchFamily="34" charset="0"/>
                <a:ea typeface="Calibri" pitchFamily="34" charset="-122"/>
                <a:cs typeface="Calibri" pitchFamily="34" charset="-120"/>
              </a:rPr>
              <a:t>Ironhack · Deep Learning Project ·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The problem &amp; the solution</a:t>
            </a:r>
            <a:endParaRPr lang="en-US" sz="3000" dirty="0"/>
          </a:p>
        </p:txBody>
      </p:sp>
      <p:sp>
        <p:nvSpPr>
          <p:cNvPr id="3" name="Text 1"/>
          <p:cNvSpPr/>
          <p:nvPr/>
        </p:nvSpPr>
        <p:spPr>
          <a:xfrm>
            <a:off x="548640" y="1417320"/>
            <a:ext cx="5577840" cy="3474720"/>
          </a:xfrm>
          <a:prstGeom prst="rect">
            <a:avLst/>
          </a:prstGeom>
          <a:noFill/>
          <a:ln/>
        </p:spPr>
        <p:txBody>
          <a:bodyPr wrap="square" rtlCol="0" anchor="t"/>
          <a:lstStyle/>
          <a:p>
            <a:pPr marL="228600" indent="-228600">
              <a:spcAft>
                <a:spcPts val="800"/>
              </a:spcAft>
              <a:buSzPct val="100000"/>
              <a:buChar char="•"/>
            </a:pPr>
            <a:r>
              <a:rPr lang="en-US" sz="1600" b="1" dirty="0">
                <a:solidFill>
                  <a:srgbClr val="1E2B1E"/>
                </a:solidFill>
                <a:latin typeface="Calibri" pitchFamily="34" charset="0"/>
                <a:ea typeface="Calibri" pitchFamily="34" charset="-122"/>
                <a:cs typeface="Calibri" pitchFamily="34" charset="-120"/>
              </a:rPr>
              <a:t>Task: given a photo, predict which of 10 animals it shows.</a:t>
            </a:r>
            <a:endParaRPr lang="en-US" sz="1600" dirty="0"/>
          </a:p>
          <a:p>
            <a:pPr marL="228600" indent="-228600">
              <a:spcAft>
                <a:spcPts val="800"/>
              </a:spcAft>
              <a:buSzPct val="100000"/>
              <a:buChar char="•"/>
            </a:pPr>
            <a:r>
              <a:rPr lang="en-US" sz="1550" dirty="0">
                <a:solidFill>
                  <a:srgbClr val="1E2B1E"/>
                </a:solidFill>
                <a:latin typeface="Calibri" pitchFamily="34" charset="0"/>
                <a:ea typeface="Calibri" pitchFamily="34" charset="-122"/>
                <a:cs typeface="Calibri" pitchFamily="34" charset="-120"/>
              </a:rPr>
              <a:t>Dataset: Animals-10 — ~26,000 real photos scraped from the web, 10 species, imbalanced.</a:t>
            </a:r>
            <a:endParaRPr lang="en-US" sz="1600" dirty="0"/>
          </a:p>
          <a:p>
            <a:pPr marL="228600" indent="-228600">
              <a:spcAft>
                <a:spcPts val="800"/>
              </a:spcAft>
              <a:buSzPct val="100000"/>
              <a:buChar char="•"/>
            </a:pPr>
            <a:r>
              <a:rPr lang="en-US" sz="1550" dirty="0">
                <a:solidFill>
                  <a:srgbClr val="1E2B1E"/>
                </a:solidFill>
                <a:latin typeface="Calibri" pitchFamily="34" charset="0"/>
                <a:ea typeface="Calibri" pitchFamily="34" charset="-122"/>
                <a:cs typeface="Calibri" pitchFamily="34" charset="-120"/>
              </a:rPr>
              <a:t>Approach: build a CNN from scratch, run a controlled sweep of 8 variants, then push accuracy with transfer learning.</a:t>
            </a:r>
            <a:endParaRPr lang="en-US" sz="1600" dirty="0"/>
          </a:p>
          <a:p>
            <a:pPr marL="228600" indent="-228600">
              <a:spcAft>
                <a:spcPts val="800"/>
              </a:spcAft>
              <a:buSzPct val="100000"/>
              <a:buChar char="•"/>
            </a:pPr>
            <a:r>
              <a:rPr lang="en-US" sz="1550" dirty="0">
                <a:solidFill>
                  <a:srgbClr val="1E2B1E"/>
                </a:solidFill>
                <a:latin typeface="Calibri" pitchFamily="34" charset="0"/>
                <a:ea typeface="Calibri" pitchFamily="34" charset="-122"/>
                <a:cs typeface="Calibri" pitchFamily="34" charset="-120"/>
              </a:rPr>
              <a:t>Bonus: ship the winner as a live web app anyone can try in a browser.</a:t>
            </a:r>
            <a:endParaRPr lang="en-US" sz="1600" dirty="0"/>
          </a:p>
        </p:txBody>
      </p:sp>
      <p:pic>
        <p:nvPicPr>
          <p:cNvPr id="4" name="Image 0" descr="C:\Users\GBT H610M-\Documents\ironHack\task\project-2\presentation_assets\sample_grid.png">    </p:cNvPr>
          <p:cNvPicPr>
            <a:picLocks noChangeAspect="1"/>
          </p:cNvPicPr>
          <p:nvPr/>
        </p:nvPicPr>
        <p:blipFill>
          <a:blip r:embed="rId1"/>
          <a:srcRect l="0" r="0" t="0" b="0"/>
          <a:stretch/>
        </p:blipFill>
        <p:spPr>
          <a:xfrm>
            <a:off x="6355080" y="1554480"/>
            <a:ext cx="5486400" cy="2743200"/>
          </a:xfrm>
          <a:prstGeom prst="rect">
            <a:avLst/>
          </a:prstGeom>
        </p:spPr>
      </p:pic>
      <p:sp>
        <p:nvSpPr>
          <p:cNvPr id="5" name="Text 2"/>
          <p:cNvSpPr/>
          <p:nvPr/>
        </p:nvSpPr>
        <p:spPr>
          <a:xfrm>
            <a:off x="6355080" y="4297680"/>
            <a:ext cx="5486400" cy="320040"/>
          </a:xfrm>
          <a:prstGeom prst="rect">
            <a:avLst/>
          </a:prstGeom>
          <a:noFill/>
          <a:ln/>
        </p:spPr>
        <p:txBody>
          <a:bodyPr wrap="square" rtlCol="0" anchor="ctr"/>
          <a:lstStyle/>
          <a:p>
            <a:pPr algn="ctr" indent="0" marL="0">
              <a:buNone/>
            </a:pPr>
            <a:r>
              <a:rPr lang="en-US" sz="1150" i="1" dirty="0">
                <a:solidFill>
                  <a:srgbClr val="5A6B5A"/>
                </a:solidFill>
              </a:rPr>
              <a:t>One sample per class — the 10 targets</a:t>
            </a:r>
            <a:endParaRPr lang="en-US" sz="1150" dirty="0"/>
          </a:p>
        </p:txBody>
      </p:sp>
      <p:sp>
        <p:nvSpPr>
          <p:cNvPr id="6" name="Text 3"/>
          <p:cNvSpPr/>
          <p:nvPr/>
        </p:nvSpPr>
        <p:spPr>
          <a:xfrm>
            <a:off x="640080" y="5074920"/>
            <a:ext cx="2468880" cy="640080"/>
          </a:xfrm>
          <a:prstGeom prst="rect">
            <a:avLst/>
          </a:prstGeom>
          <a:noFill/>
          <a:ln/>
        </p:spPr>
        <p:txBody>
          <a:bodyPr wrap="square" lIns="0" tIns="0" rIns="0" bIns="0"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26,179</a:t>
            </a:r>
            <a:endParaRPr lang="en-US" sz="3400" dirty="0"/>
          </a:p>
        </p:txBody>
      </p:sp>
      <p:sp>
        <p:nvSpPr>
          <p:cNvPr id="7" name="Text 4"/>
          <p:cNvSpPr/>
          <p:nvPr/>
        </p:nvSpPr>
        <p:spPr>
          <a:xfrm>
            <a:off x="640080" y="5696712"/>
            <a:ext cx="246888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images</a:t>
            </a:r>
            <a:endParaRPr lang="en-US" sz="1250" dirty="0"/>
          </a:p>
        </p:txBody>
      </p:sp>
      <p:sp>
        <p:nvSpPr>
          <p:cNvPr id="8" name="Text 5"/>
          <p:cNvSpPr/>
          <p:nvPr/>
        </p:nvSpPr>
        <p:spPr>
          <a:xfrm>
            <a:off x="3291840" y="5074920"/>
            <a:ext cx="2468880" cy="640080"/>
          </a:xfrm>
          <a:prstGeom prst="rect">
            <a:avLst/>
          </a:prstGeom>
          <a:noFill/>
          <a:ln/>
        </p:spPr>
        <p:txBody>
          <a:bodyPr wrap="square" lIns="0" tIns="0" rIns="0" bIns="0"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10</a:t>
            </a:r>
            <a:endParaRPr lang="en-US" sz="3400" dirty="0"/>
          </a:p>
        </p:txBody>
      </p:sp>
      <p:sp>
        <p:nvSpPr>
          <p:cNvPr id="9" name="Text 6"/>
          <p:cNvSpPr/>
          <p:nvPr/>
        </p:nvSpPr>
        <p:spPr>
          <a:xfrm>
            <a:off x="3291840" y="5696712"/>
            <a:ext cx="246888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classes</a:t>
            </a:r>
            <a:endParaRPr lang="en-US" sz="1250" dirty="0"/>
          </a:p>
        </p:txBody>
      </p:sp>
      <p:sp>
        <p:nvSpPr>
          <p:cNvPr id="10" name="Text 7"/>
          <p:cNvSpPr/>
          <p:nvPr/>
        </p:nvSpPr>
        <p:spPr>
          <a:xfrm>
            <a:off x="6309360" y="5074920"/>
            <a:ext cx="2468880" cy="640080"/>
          </a:xfrm>
          <a:prstGeom prst="rect">
            <a:avLst/>
          </a:prstGeom>
          <a:noFill/>
          <a:ln/>
        </p:spPr>
        <p:txBody>
          <a:bodyPr wrap="square" lIns="0" tIns="0" rIns="0" bIns="0"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8</a:t>
            </a:r>
            <a:endParaRPr lang="en-US" sz="3400" dirty="0"/>
          </a:p>
        </p:txBody>
      </p:sp>
      <p:sp>
        <p:nvSpPr>
          <p:cNvPr id="11" name="Text 8"/>
          <p:cNvSpPr/>
          <p:nvPr/>
        </p:nvSpPr>
        <p:spPr>
          <a:xfrm>
            <a:off x="6309360" y="5696712"/>
            <a:ext cx="246888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models trained</a:t>
            </a:r>
            <a:endParaRPr lang="en-US" sz="1250" dirty="0"/>
          </a:p>
        </p:txBody>
      </p:sp>
      <p:sp>
        <p:nvSpPr>
          <p:cNvPr id="12" name="Text 9"/>
          <p:cNvSpPr/>
          <p:nvPr/>
        </p:nvSpPr>
        <p:spPr>
          <a:xfrm>
            <a:off x="9052560" y="5074920"/>
            <a:ext cx="2468880" cy="640080"/>
          </a:xfrm>
          <a:prstGeom prst="rect">
            <a:avLst/>
          </a:prstGeom>
          <a:noFill/>
          <a:ln/>
        </p:spPr>
        <p:txBody>
          <a:bodyPr wrap="square" lIns="0" tIns="0" rIns="0" bIns="0" rtlCol="0" anchor="ctr"/>
          <a:lstStyle/>
          <a:p>
            <a:pPr algn="ctr" indent="0" marL="0">
              <a:buNone/>
            </a:pPr>
            <a:r>
              <a:rPr lang="en-US" sz="3400" b="1" dirty="0">
                <a:solidFill>
                  <a:srgbClr val="E07A3E"/>
                </a:solidFill>
                <a:latin typeface="Cambria" pitchFamily="34" charset="0"/>
                <a:ea typeface="Cambria" pitchFamily="34" charset="-122"/>
                <a:cs typeface="Cambria" pitchFamily="34" charset="-120"/>
              </a:rPr>
              <a:t>94%</a:t>
            </a:r>
            <a:endParaRPr lang="en-US" sz="3400" dirty="0"/>
          </a:p>
        </p:txBody>
      </p:sp>
      <p:sp>
        <p:nvSpPr>
          <p:cNvPr id="13" name="Text 10"/>
          <p:cNvSpPr/>
          <p:nvPr/>
        </p:nvSpPr>
        <p:spPr>
          <a:xfrm>
            <a:off x="9052560" y="5696712"/>
            <a:ext cx="246888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test accuracy</a:t>
            </a:r>
            <a:endParaRPr lang="en-US" sz="1250" dirty="0"/>
          </a:p>
        </p:txBody>
      </p:sp>
      <p:sp>
        <p:nvSpPr>
          <p:cNvPr id="14" name="Text 11"/>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From raw photos to model-ready data</a:t>
            </a:r>
            <a:endParaRPr lang="en-US" sz="3000" dirty="0"/>
          </a:p>
        </p:txBody>
      </p:sp>
      <p:sp>
        <p:nvSpPr>
          <p:cNvPr id="3" name="Shape 1"/>
          <p:cNvSpPr/>
          <p:nvPr/>
        </p:nvSpPr>
        <p:spPr>
          <a:xfrm>
            <a:off x="640080" y="1508760"/>
            <a:ext cx="2606040" cy="1600200"/>
          </a:xfrm>
          <a:prstGeom prst="roundRect">
            <a:avLst>
              <a:gd name="adj" fmla="val 5714"/>
            </a:avLst>
          </a:prstGeom>
          <a:solidFill>
            <a:srgbClr val="F5F5F5"/>
          </a:solidFill>
          <a:ln w="12700">
            <a:solidFill>
              <a:srgbClr val="97BC62"/>
            </a:solidFill>
            <a:prstDash val="solid"/>
          </a:ln>
        </p:spPr>
      </p:sp>
      <p:sp>
        <p:nvSpPr>
          <p:cNvPr id="4" name="Shape 2"/>
          <p:cNvSpPr/>
          <p:nvPr/>
        </p:nvSpPr>
        <p:spPr>
          <a:xfrm>
            <a:off x="822960" y="1691640"/>
            <a:ext cx="502920" cy="502920"/>
          </a:xfrm>
          <a:prstGeom prst="ellipse">
            <a:avLst/>
          </a:prstGeom>
          <a:solidFill>
            <a:srgbClr val="97BC62"/>
          </a:solidFill>
          <a:ln/>
        </p:spPr>
      </p:sp>
      <p:sp>
        <p:nvSpPr>
          <p:cNvPr id="5" name="Text 3"/>
          <p:cNvSpPr/>
          <p:nvPr/>
        </p:nvSpPr>
        <p:spPr>
          <a:xfrm>
            <a:off x="822960" y="16916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417320" y="1737360"/>
            <a:ext cx="1737360" cy="41148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Resize</a:t>
            </a:r>
            <a:endParaRPr lang="en-US" sz="1700" dirty="0"/>
          </a:p>
        </p:txBody>
      </p:sp>
      <p:sp>
        <p:nvSpPr>
          <p:cNvPr id="7" name="Text 5"/>
          <p:cNvSpPr/>
          <p:nvPr/>
        </p:nvSpPr>
        <p:spPr>
          <a:xfrm>
            <a:off x="822960" y="2331720"/>
            <a:ext cx="2240280" cy="731520"/>
          </a:xfrm>
          <a:prstGeom prst="rect">
            <a:avLst/>
          </a:prstGeom>
          <a:noFill/>
          <a:ln/>
        </p:spPr>
        <p:txBody>
          <a:bodyPr wrap="square" rtlCol="0" anchor="ctr"/>
          <a:lstStyle/>
          <a:p>
            <a:pPr indent="0" marL="0">
              <a:buNone/>
            </a:pPr>
            <a:r>
              <a:rPr lang="en-US" sz="1250" dirty="0">
                <a:solidFill>
                  <a:srgbClr val="1E2B1E"/>
                </a:solidFill>
                <a:latin typeface="Calibri" pitchFamily="34" charset="0"/>
                <a:ea typeface="Calibri" pitchFamily="34" charset="-122"/>
                <a:cs typeface="Calibri" pitchFamily="34" charset="-120"/>
              </a:rPr>
              <a:t>every image → 128×128×3</a:t>
            </a:r>
            <a:endParaRPr lang="en-US" sz="1250" dirty="0"/>
          </a:p>
        </p:txBody>
      </p:sp>
      <p:sp>
        <p:nvSpPr>
          <p:cNvPr id="8" name="Text 6"/>
          <p:cNvSpPr/>
          <p:nvPr/>
        </p:nvSpPr>
        <p:spPr>
          <a:xfrm>
            <a:off x="3227832" y="1508760"/>
            <a:ext cx="301752" cy="1600200"/>
          </a:xfrm>
          <a:prstGeom prst="rect">
            <a:avLst/>
          </a:prstGeom>
          <a:noFill/>
          <a:ln/>
        </p:spPr>
        <p:txBody>
          <a:bodyPr wrap="square" rtlCol="0" anchor="ctr"/>
          <a:lstStyle/>
          <a:p>
            <a:pPr algn="ctr" indent="0" marL="0">
              <a:buNone/>
            </a:pPr>
            <a:r>
              <a:rPr lang="en-US" sz="2800" b="1" dirty="0">
                <a:solidFill>
                  <a:srgbClr val="97BC62"/>
                </a:solidFill>
              </a:rPr>
              <a:t>›</a:t>
            </a:r>
            <a:endParaRPr lang="en-US" sz="2800" dirty="0"/>
          </a:p>
        </p:txBody>
      </p:sp>
      <p:sp>
        <p:nvSpPr>
          <p:cNvPr id="9" name="Shape 7"/>
          <p:cNvSpPr/>
          <p:nvPr/>
        </p:nvSpPr>
        <p:spPr>
          <a:xfrm>
            <a:off x="3502152" y="1508760"/>
            <a:ext cx="2606040" cy="1600200"/>
          </a:xfrm>
          <a:prstGeom prst="roundRect">
            <a:avLst>
              <a:gd name="adj" fmla="val 5714"/>
            </a:avLst>
          </a:prstGeom>
          <a:solidFill>
            <a:srgbClr val="F5F5F5"/>
          </a:solidFill>
          <a:ln w="12700">
            <a:solidFill>
              <a:srgbClr val="97BC62"/>
            </a:solidFill>
            <a:prstDash val="solid"/>
          </a:ln>
        </p:spPr>
      </p:sp>
      <p:sp>
        <p:nvSpPr>
          <p:cNvPr id="10" name="Shape 8"/>
          <p:cNvSpPr/>
          <p:nvPr/>
        </p:nvSpPr>
        <p:spPr>
          <a:xfrm>
            <a:off x="3685032" y="1691640"/>
            <a:ext cx="502920" cy="502920"/>
          </a:xfrm>
          <a:prstGeom prst="ellipse">
            <a:avLst/>
          </a:prstGeom>
          <a:solidFill>
            <a:srgbClr val="97BC62"/>
          </a:solidFill>
          <a:ln/>
        </p:spPr>
      </p:sp>
      <p:sp>
        <p:nvSpPr>
          <p:cNvPr id="11" name="Text 9"/>
          <p:cNvSpPr/>
          <p:nvPr/>
        </p:nvSpPr>
        <p:spPr>
          <a:xfrm>
            <a:off x="3685032" y="16916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279392" y="1737360"/>
            <a:ext cx="1737360" cy="41148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Normalize</a:t>
            </a:r>
            <a:endParaRPr lang="en-US" sz="1700" dirty="0"/>
          </a:p>
        </p:txBody>
      </p:sp>
      <p:sp>
        <p:nvSpPr>
          <p:cNvPr id="13" name="Text 11"/>
          <p:cNvSpPr/>
          <p:nvPr/>
        </p:nvSpPr>
        <p:spPr>
          <a:xfrm>
            <a:off x="3685032" y="2331720"/>
            <a:ext cx="2240280" cy="731520"/>
          </a:xfrm>
          <a:prstGeom prst="rect">
            <a:avLst/>
          </a:prstGeom>
          <a:noFill/>
          <a:ln/>
        </p:spPr>
        <p:txBody>
          <a:bodyPr wrap="square" rtlCol="0" anchor="ctr"/>
          <a:lstStyle/>
          <a:p>
            <a:pPr indent="0" marL="0">
              <a:buNone/>
            </a:pPr>
            <a:r>
              <a:rPr lang="en-US" sz="1250" dirty="0">
                <a:solidFill>
                  <a:srgbClr val="1E2B1E"/>
                </a:solidFill>
                <a:latin typeface="Calibri" pitchFamily="34" charset="0"/>
                <a:ea typeface="Calibri" pitchFamily="34" charset="-122"/>
                <a:cs typeface="Calibri" pitchFamily="34" charset="-120"/>
              </a:rPr>
              <a:t>pixels rescaled to [0, 1]</a:t>
            </a:r>
            <a:endParaRPr lang="en-US" sz="1250" dirty="0"/>
          </a:p>
        </p:txBody>
      </p:sp>
      <p:sp>
        <p:nvSpPr>
          <p:cNvPr id="14" name="Text 12"/>
          <p:cNvSpPr/>
          <p:nvPr/>
        </p:nvSpPr>
        <p:spPr>
          <a:xfrm>
            <a:off x="6089904" y="1508760"/>
            <a:ext cx="301752" cy="1600200"/>
          </a:xfrm>
          <a:prstGeom prst="rect">
            <a:avLst/>
          </a:prstGeom>
          <a:noFill/>
          <a:ln/>
        </p:spPr>
        <p:txBody>
          <a:bodyPr wrap="square" rtlCol="0" anchor="ctr"/>
          <a:lstStyle/>
          <a:p>
            <a:pPr algn="ctr" indent="0" marL="0">
              <a:buNone/>
            </a:pPr>
            <a:r>
              <a:rPr lang="en-US" sz="2800" b="1" dirty="0">
                <a:solidFill>
                  <a:srgbClr val="97BC62"/>
                </a:solidFill>
              </a:rPr>
              <a:t>›</a:t>
            </a:r>
            <a:endParaRPr lang="en-US" sz="2800" dirty="0"/>
          </a:p>
        </p:txBody>
      </p:sp>
      <p:sp>
        <p:nvSpPr>
          <p:cNvPr id="15" name="Shape 13"/>
          <p:cNvSpPr/>
          <p:nvPr/>
        </p:nvSpPr>
        <p:spPr>
          <a:xfrm>
            <a:off x="6364224" y="1508760"/>
            <a:ext cx="2606040" cy="1600200"/>
          </a:xfrm>
          <a:prstGeom prst="roundRect">
            <a:avLst>
              <a:gd name="adj" fmla="val 5714"/>
            </a:avLst>
          </a:prstGeom>
          <a:solidFill>
            <a:srgbClr val="F5F5F5"/>
          </a:solidFill>
          <a:ln w="12700">
            <a:solidFill>
              <a:srgbClr val="97BC62"/>
            </a:solidFill>
            <a:prstDash val="solid"/>
          </a:ln>
        </p:spPr>
      </p:sp>
      <p:sp>
        <p:nvSpPr>
          <p:cNvPr id="16" name="Shape 14"/>
          <p:cNvSpPr/>
          <p:nvPr/>
        </p:nvSpPr>
        <p:spPr>
          <a:xfrm>
            <a:off x="6547104" y="1691640"/>
            <a:ext cx="502920" cy="502920"/>
          </a:xfrm>
          <a:prstGeom prst="ellipse">
            <a:avLst/>
          </a:prstGeom>
          <a:solidFill>
            <a:srgbClr val="97BC62"/>
          </a:solidFill>
          <a:ln/>
        </p:spPr>
      </p:sp>
      <p:sp>
        <p:nvSpPr>
          <p:cNvPr id="17" name="Text 15"/>
          <p:cNvSpPr/>
          <p:nvPr/>
        </p:nvSpPr>
        <p:spPr>
          <a:xfrm>
            <a:off x="6547104" y="16916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7141464" y="1737360"/>
            <a:ext cx="1737360" cy="41148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Split</a:t>
            </a:r>
            <a:endParaRPr lang="en-US" sz="1700" dirty="0"/>
          </a:p>
        </p:txBody>
      </p:sp>
      <p:sp>
        <p:nvSpPr>
          <p:cNvPr id="19" name="Text 17"/>
          <p:cNvSpPr/>
          <p:nvPr/>
        </p:nvSpPr>
        <p:spPr>
          <a:xfrm>
            <a:off x="6547104" y="2331720"/>
            <a:ext cx="2240280" cy="731520"/>
          </a:xfrm>
          <a:prstGeom prst="rect">
            <a:avLst/>
          </a:prstGeom>
          <a:noFill/>
          <a:ln/>
        </p:spPr>
        <p:txBody>
          <a:bodyPr wrap="square" rtlCol="0" anchor="ctr"/>
          <a:lstStyle/>
          <a:p>
            <a:pPr indent="0" marL="0">
              <a:buNone/>
            </a:pPr>
            <a:r>
              <a:rPr lang="en-US" sz="1250" dirty="0">
                <a:solidFill>
                  <a:srgbClr val="1E2B1E"/>
                </a:solidFill>
                <a:latin typeface="Calibri" pitchFamily="34" charset="0"/>
                <a:ea typeface="Calibri" pitchFamily="34" charset="-122"/>
                <a:cs typeface="Calibri" pitchFamily="34" charset="-120"/>
              </a:rPr>
              <a:t>stratified 70 / 15 / 15 (seed 42)</a:t>
            </a:r>
            <a:endParaRPr lang="en-US" sz="1250" dirty="0"/>
          </a:p>
        </p:txBody>
      </p:sp>
      <p:sp>
        <p:nvSpPr>
          <p:cNvPr id="20" name="Text 18"/>
          <p:cNvSpPr/>
          <p:nvPr/>
        </p:nvSpPr>
        <p:spPr>
          <a:xfrm>
            <a:off x="8951976" y="1508760"/>
            <a:ext cx="301752" cy="1600200"/>
          </a:xfrm>
          <a:prstGeom prst="rect">
            <a:avLst/>
          </a:prstGeom>
          <a:noFill/>
          <a:ln/>
        </p:spPr>
        <p:txBody>
          <a:bodyPr wrap="square" rtlCol="0" anchor="ctr"/>
          <a:lstStyle/>
          <a:p>
            <a:pPr algn="ctr" indent="0" marL="0">
              <a:buNone/>
            </a:pPr>
            <a:r>
              <a:rPr lang="en-US" sz="2800" b="1" dirty="0">
                <a:solidFill>
                  <a:srgbClr val="97BC62"/>
                </a:solidFill>
              </a:rPr>
              <a:t>›</a:t>
            </a:r>
            <a:endParaRPr lang="en-US" sz="2800" dirty="0"/>
          </a:p>
        </p:txBody>
      </p:sp>
      <p:sp>
        <p:nvSpPr>
          <p:cNvPr id="21" name="Shape 19"/>
          <p:cNvSpPr/>
          <p:nvPr/>
        </p:nvSpPr>
        <p:spPr>
          <a:xfrm>
            <a:off x="9226296" y="1508760"/>
            <a:ext cx="2606040" cy="1600200"/>
          </a:xfrm>
          <a:prstGeom prst="roundRect">
            <a:avLst>
              <a:gd name="adj" fmla="val 5714"/>
            </a:avLst>
          </a:prstGeom>
          <a:solidFill>
            <a:srgbClr val="F5F5F5"/>
          </a:solidFill>
          <a:ln w="12700">
            <a:solidFill>
              <a:srgbClr val="97BC62"/>
            </a:solidFill>
            <a:prstDash val="solid"/>
          </a:ln>
        </p:spPr>
      </p:sp>
      <p:sp>
        <p:nvSpPr>
          <p:cNvPr id="22" name="Shape 20"/>
          <p:cNvSpPr/>
          <p:nvPr/>
        </p:nvSpPr>
        <p:spPr>
          <a:xfrm>
            <a:off x="9409176" y="1691640"/>
            <a:ext cx="502920" cy="502920"/>
          </a:xfrm>
          <a:prstGeom prst="ellipse">
            <a:avLst/>
          </a:prstGeom>
          <a:solidFill>
            <a:srgbClr val="97BC62"/>
          </a:solidFill>
          <a:ln/>
        </p:spPr>
      </p:sp>
      <p:sp>
        <p:nvSpPr>
          <p:cNvPr id="23" name="Text 21"/>
          <p:cNvSpPr/>
          <p:nvPr/>
        </p:nvSpPr>
        <p:spPr>
          <a:xfrm>
            <a:off x="9409176" y="16916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10003536" y="1737360"/>
            <a:ext cx="1737360" cy="41148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Augment</a:t>
            </a:r>
            <a:endParaRPr lang="en-US" sz="1700" dirty="0"/>
          </a:p>
        </p:txBody>
      </p:sp>
      <p:sp>
        <p:nvSpPr>
          <p:cNvPr id="25" name="Text 23"/>
          <p:cNvSpPr/>
          <p:nvPr/>
        </p:nvSpPr>
        <p:spPr>
          <a:xfrm>
            <a:off x="9409176" y="2331720"/>
            <a:ext cx="2240280" cy="731520"/>
          </a:xfrm>
          <a:prstGeom prst="rect">
            <a:avLst/>
          </a:prstGeom>
          <a:noFill/>
          <a:ln/>
        </p:spPr>
        <p:txBody>
          <a:bodyPr wrap="square" rtlCol="0" anchor="ctr"/>
          <a:lstStyle/>
          <a:p>
            <a:pPr indent="0" marL="0">
              <a:buNone/>
            </a:pPr>
            <a:r>
              <a:rPr lang="en-US" sz="1250" dirty="0">
                <a:solidFill>
                  <a:srgbClr val="1E2B1E"/>
                </a:solidFill>
                <a:latin typeface="Calibri" pitchFamily="34" charset="0"/>
                <a:ea typeface="Calibri" pitchFamily="34" charset="-122"/>
                <a:cs typeface="Calibri" pitchFamily="34" charset="-120"/>
              </a:rPr>
              <a:t>flip/rotate/zoom — train only, optional</a:t>
            </a:r>
            <a:endParaRPr lang="en-US" sz="1250" dirty="0"/>
          </a:p>
        </p:txBody>
      </p:sp>
      <p:pic>
        <p:nvPicPr>
          <p:cNvPr id="26" name="Image 0" descr="C:\Users\GBT H610M-\Documents\ironHack\task\project-2\presentation_assets\class_distribution.png">    </p:cNvPr>
          <p:cNvPicPr>
            <a:picLocks noChangeAspect="1"/>
          </p:cNvPicPr>
          <p:nvPr/>
        </p:nvPicPr>
        <p:blipFill>
          <a:blip r:embed="rId1"/>
          <a:srcRect l="0" r="0" t="0" b="0"/>
          <a:stretch/>
        </p:blipFill>
        <p:spPr>
          <a:xfrm>
            <a:off x="6126480" y="3383280"/>
            <a:ext cx="5669280" cy="3017520"/>
          </a:xfrm>
          <a:prstGeom prst="rect">
            <a:avLst/>
          </a:prstGeom>
        </p:spPr>
      </p:pic>
      <p:sp>
        <p:nvSpPr>
          <p:cNvPr id="27" name="Text 24"/>
          <p:cNvSpPr/>
          <p:nvPr/>
        </p:nvSpPr>
        <p:spPr>
          <a:xfrm>
            <a:off x="640080" y="3566160"/>
            <a:ext cx="5212080" cy="2560320"/>
          </a:xfrm>
          <a:prstGeom prst="rect">
            <a:avLst/>
          </a:prstGeom>
          <a:noFill/>
          <a:ln/>
        </p:spPr>
        <p:txBody>
          <a:bodyPr wrap="square" rtlCol="0" anchor="t"/>
          <a:lstStyle/>
          <a:p>
            <a:pPr marL="228600" indent="-228600">
              <a:spcAft>
                <a:spcPts val="800"/>
              </a:spcAft>
              <a:buSzPct val="100000"/>
              <a:buChar char="•"/>
            </a:pPr>
            <a:r>
              <a:rPr lang="en-US" sz="1450" dirty="0">
                <a:solidFill>
                  <a:srgbClr val="1E2B1E"/>
                </a:solidFill>
                <a:latin typeface="Calibri" pitchFamily="34" charset="0"/>
                <a:ea typeface="Calibri" pitchFamily="34" charset="-122"/>
                <a:cs typeface="Calibri" pitchFamily="34" charset="-120"/>
              </a:rPr>
              <a:t>Classes are imbalanced — dog &amp; spider have ~4,800 each; elephant &amp; cat under 1,700.</a:t>
            </a:r>
            <a:endParaRPr lang="en-US" sz="1450" dirty="0"/>
          </a:p>
          <a:p>
            <a:pPr marL="228600" indent="-228600">
              <a:spcAft>
                <a:spcPts val="800"/>
              </a:spcAft>
              <a:buSzPct val="100000"/>
              <a:buChar char="•"/>
            </a:pPr>
            <a:r>
              <a:rPr lang="en-US" sz="1450" dirty="0">
                <a:solidFill>
                  <a:srgbClr val="1E2B1E"/>
                </a:solidFill>
                <a:latin typeface="Calibri" pitchFamily="34" charset="0"/>
                <a:ea typeface="Calibri" pitchFamily="34" charset="-122"/>
                <a:cs typeface="Calibri" pitchFamily="34" charset="-120"/>
              </a:rPr>
              <a:t>Handled with a stratified split so every set keeps the same balance.</a:t>
            </a:r>
            <a:endParaRPr lang="en-US" sz="1450" dirty="0"/>
          </a:p>
          <a:p>
            <a:pPr marL="228600" indent="-228600">
              <a:spcAft>
                <a:spcPts val="800"/>
              </a:spcAft>
              <a:buSzPct val="100000"/>
              <a:buChar char="•"/>
            </a:pPr>
            <a:r>
              <a:rPr lang="en-US" sz="1450" b="1" dirty="0">
                <a:solidFill>
                  <a:srgbClr val="2C5F2D"/>
                </a:solidFill>
                <a:latin typeface="Calibri" pitchFamily="34" charset="0"/>
                <a:ea typeface="Calibri" pitchFamily="34" charset="-122"/>
                <a:cs typeface="Calibri" pitchFamily="34" charset="-120"/>
              </a:rPr>
              <a:t>The 15% test set is locked away — no model sees it until the final score.</a:t>
            </a:r>
            <a:endParaRPr lang="en-US" sz="1450" dirty="0"/>
          </a:p>
        </p:txBody>
      </p:sp>
      <p:sp>
        <p:nvSpPr>
          <p:cNvPr id="28" name="Text 25"/>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Designing the network: the winning idea</a:t>
            </a:r>
            <a:endParaRPr lang="en-US" sz="3000" dirty="0"/>
          </a:p>
        </p:txBody>
      </p:sp>
      <p:sp>
        <p:nvSpPr>
          <p:cNvPr id="3" name="Text 1"/>
          <p:cNvSpPr/>
          <p:nvPr/>
        </p:nvSpPr>
        <p:spPr>
          <a:xfrm>
            <a:off x="548640" y="1417320"/>
            <a:ext cx="6035040" cy="3291840"/>
          </a:xfrm>
          <a:prstGeom prst="rect">
            <a:avLst/>
          </a:prstGeom>
          <a:noFill/>
          <a:ln/>
        </p:spPr>
        <p:txBody>
          <a:bodyPr wrap="square" rtlCol="0" anchor="t"/>
          <a:lstStyle/>
          <a:p>
            <a:pPr marL="228600" indent="-228600">
              <a:spcAft>
                <a:spcPts val="800"/>
              </a:spcAft>
              <a:buSzPct val="100000"/>
              <a:buChar char="•"/>
            </a:pPr>
            <a:r>
              <a:rPr lang="en-US" sz="1600" b="1" dirty="0">
                <a:solidFill>
                  <a:srgbClr val="1E2B1E"/>
                </a:solidFill>
                <a:latin typeface="Calibri" pitchFamily="34" charset="0"/>
                <a:ea typeface="Calibri" pitchFamily="34" charset="-122"/>
                <a:cs typeface="Calibri" pitchFamily="34" charset="-120"/>
              </a:rPr>
              <a:t>Backbone: 3 conv blocks (Conv→Conv→MaxPool), 32 → 64 → 128 filters.</a:t>
            </a:r>
            <a:endParaRPr lang="en-US" sz="1600" dirty="0"/>
          </a:p>
          <a:p>
            <a:pPr marL="228600" indent="-228600">
              <a:spcAft>
                <a:spcPts val="800"/>
              </a:spcAft>
              <a:buSzPct val="100000"/>
              <a:buChar char="•"/>
            </a:pPr>
            <a:r>
              <a:rPr lang="en-US" sz="1550" dirty="0">
                <a:solidFill>
                  <a:srgbClr val="1E2B1E"/>
                </a:solidFill>
                <a:latin typeface="Calibri" pitchFamily="34" charset="0"/>
                <a:ea typeface="Calibri" pitchFamily="34" charset="-122"/>
                <a:cs typeface="Calibri" pitchFamily="34" charset="-120"/>
              </a:rPr>
              <a:t>Baseline used a Flatten head → heavily overfit (~13-point train/val gap).</a:t>
            </a:r>
            <a:endParaRPr lang="en-US" sz="1600" dirty="0"/>
          </a:p>
          <a:p>
            <a:pPr marL="228600" indent="-228600">
              <a:spcAft>
                <a:spcPts val="800"/>
              </a:spcAft>
              <a:buSzPct val="100000"/>
              <a:buChar char="•"/>
            </a:pPr>
            <a:r>
              <a:rPr lang="en-US" sz="1550" dirty="0">
                <a:solidFill>
                  <a:srgbClr val="1E2B1E"/>
                </a:solidFill>
                <a:latin typeface="Calibri" pitchFamily="34" charset="0"/>
                <a:ea typeface="Calibri" pitchFamily="34" charset="-122"/>
                <a:cs typeface="Calibri" pitchFamily="34" charset="-120"/>
              </a:rPr>
              <a:t>The fix that mattered: replace Flatten with Global Average Pooling.</a:t>
            </a:r>
            <a:endParaRPr lang="en-US" sz="1600" dirty="0"/>
          </a:p>
          <a:p>
            <a:pPr marL="228600" indent="-228600">
              <a:spcAft>
                <a:spcPts val="800"/>
              </a:spcAft>
              <a:buSzPct val="100000"/>
              <a:buChar char="•"/>
            </a:pPr>
            <a:r>
              <a:rPr lang="en-US" sz="1550" b="1" dirty="0">
                <a:solidFill>
                  <a:srgbClr val="2C5F2D"/>
                </a:solidFill>
                <a:latin typeface="Calibri" pitchFamily="34" charset="0"/>
                <a:ea typeface="Calibri" pitchFamily="34" charset="-122"/>
                <a:cs typeface="Calibri" pitchFamily="34" charset="-120"/>
              </a:rPr>
              <a:t>Dense head shrank from ~184,000 to ~1,300 parameters — overfitting dropped and accuracy rose.</a:t>
            </a:r>
            <a:endParaRPr lang="en-US" sz="1600" dirty="0"/>
          </a:p>
        </p:txBody>
      </p:sp>
      <p:sp>
        <p:nvSpPr>
          <p:cNvPr id="4" name="Shape 2"/>
          <p:cNvSpPr/>
          <p:nvPr/>
        </p:nvSpPr>
        <p:spPr>
          <a:xfrm>
            <a:off x="6949440" y="1600200"/>
            <a:ext cx="4846320" cy="1874520"/>
          </a:xfrm>
          <a:prstGeom prst="roundRect">
            <a:avLst>
              <a:gd name="adj" fmla="val 3902"/>
            </a:avLst>
          </a:prstGeom>
          <a:solidFill>
            <a:srgbClr val="F5F5F5"/>
          </a:solidFill>
          <a:ln w="12700">
            <a:solidFill>
              <a:srgbClr val="97BC62"/>
            </a:solidFill>
            <a:prstDash val="solid"/>
          </a:ln>
        </p:spPr>
      </p:sp>
      <p:sp>
        <p:nvSpPr>
          <p:cNvPr id="5" name="Text 3"/>
          <p:cNvSpPr/>
          <p:nvPr/>
        </p:nvSpPr>
        <p:spPr>
          <a:xfrm>
            <a:off x="6949440" y="1737360"/>
            <a:ext cx="4846320" cy="365760"/>
          </a:xfrm>
          <a:prstGeom prst="rect">
            <a:avLst/>
          </a:prstGeom>
          <a:noFill/>
          <a:ln/>
        </p:spPr>
        <p:txBody>
          <a:bodyPr wrap="square" rtlCol="0" anchor="ctr"/>
          <a:lstStyle/>
          <a:p>
            <a:pPr algn="ctr" indent="0" marL="0">
              <a:buNone/>
            </a:pPr>
            <a:r>
              <a:rPr lang="en-US" sz="1300" dirty="0">
                <a:solidFill>
                  <a:srgbClr val="5A6B5A"/>
                </a:solidFill>
                <a:latin typeface="Calibri" pitchFamily="34" charset="0"/>
                <a:ea typeface="Calibri" pitchFamily="34" charset="-122"/>
                <a:cs typeface="Calibri" pitchFamily="34" charset="-120"/>
              </a:rPr>
              <a:t>Dense-head parameters</a:t>
            </a:r>
            <a:endParaRPr lang="en-US" sz="1300" dirty="0"/>
          </a:p>
        </p:txBody>
      </p:sp>
      <p:sp>
        <p:nvSpPr>
          <p:cNvPr id="6" name="Text 4"/>
          <p:cNvSpPr/>
          <p:nvPr/>
        </p:nvSpPr>
        <p:spPr>
          <a:xfrm>
            <a:off x="6949440" y="2194560"/>
            <a:ext cx="4846320" cy="822960"/>
          </a:xfrm>
          <a:prstGeom prst="rect">
            <a:avLst/>
          </a:prstGeom>
          <a:noFill/>
          <a:ln/>
        </p:spPr>
        <p:txBody>
          <a:bodyPr wrap="square" rtlCol="0" anchor="ctr"/>
          <a:lstStyle/>
          <a:p>
            <a:pPr algn="ctr" indent="0" marL="0">
              <a:buNone/>
            </a:pPr>
            <a:r>
              <a:rPr lang="en-US" sz="3400" b="1" strike="sngStrike" dirty="0">
                <a:solidFill>
                  <a:srgbClr val="5A6B5A"/>
                </a:solidFill>
                <a:latin typeface="Cambria" pitchFamily="34" charset="0"/>
                <a:ea typeface="Cambria" pitchFamily="34" charset="-122"/>
                <a:cs typeface="Cambria" pitchFamily="34" charset="-120"/>
              </a:rPr>
              <a:t>184k</a:t>
            </a:r>
            <a:pPr algn="ctr" indent="0" marL="0">
              <a:buNone/>
            </a:pPr>
            <a:r>
              <a:rPr lang="en-US" sz="2600" dirty="0">
                <a:solidFill>
                  <a:srgbClr val="1E2B1E"/>
                </a:solidFill>
                <a:latin typeface="Cambria" pitchFamily="34" charset="0"/>
                <a:ea typeface="Cambria" pitchFamily="34" charset="-122"/>
                <a:cs typeface="Cambria" pitchFamily="34" charset="-120"/>
              </a:rPr>
              <a:t>   →   </a:t>
            </a:r>
            <a:pPr algn="ctr" indent="0" marL="0">
              <a:buNone/>
            </a:pPr>
            <a:r>
              <a:rPr lang="en-US" sz="4000" b="1" dirty="0">
                <a:solidFill>
                  <a:srgbClr val="E07A3E"/>
                </a:solidFill>
                <a:latin typeface="Cambria" pitchFamily="34" charset="0"/>
                <a:ea typeface="Cambria" pitchFamily="34" charset="-122"/>
                <a:cs typeface="Cambria" pitchFamily="34" charset="-120"/>
              </a:rPr>
              <a:t>1.3k</a:t>
            </a:r>
            <a:endParaRPr lang="en-US" sz="3400" dirty="0"/>
          </a:p>
        </p:txBody>
      </p:sp>
      <p:sp>
        <p:nvSpPr>
          <p:cNvPr id="7" name="Text 5"/>
          <p:cNvSpPr/>
          <p:nvPr/>
        </p:nvSpPr>
        <p:spPr>
          <a:xfrm>
            <a:off x="6949440" y="2999232"/>
            <a:ext cx="4846320" cy="365760"/>
          </a:xfrm>
          <a:prstGeom prst="rect">
            <a:avLst/>
          </a:prstGeom>
          <a:noFill/>
          <a:ln/>
        </p:spPr>
        <p:txBody>
          <a:bodyPr wrap="square" rtlCol="0" anchor="ctr"/>
          <a:lstStyle/>
          <a:p>
            <a:pPr algn="ctr" indent="0" marL="0">
              <a:buNone/>
            </a:pPr>
            <a:r>
              <a:rPr lang="en-US" sz="1300" i="1" dirty="0">
                <a:solidFill>
                  <a:srgbClr val="2C5F2D"/>
                </a:solidFill>
                <a:latin typeface="Calibri" pitchFamily="34" charset="0"/>
                <a:ea typeface="Calibri" pitchFamily="34" charset="-122"/>
                <a:cs typeface="Calibri" pitchFamily="34" charset="-120"/>
              </a:rPr>
              <a:t>Flatten  →  Global Average Pooling</a:t>
            </a:r>
            <a:endParaRPr lang="en-US" sz="1300" dirty="0"/>
          </a:p>
        </p:txBody>
      </p:sp>
      <p:sp>
        <p:nvSpPr>
          <p:cNvPr id="8" name="Shape 6"/>
          <p:cNvSpPr/>
          <p:nvPr/>
        </p:nvSpPr>
        <p:spPr>
          <a:xfrm>
            <a:off x="6949440" y="3703320"/>
            <a:ext cx="4846320" cy="960120"/>
          </a:xfrm>
          <a:prstGeom prst="roundRect">
            <a:avLst>
              <a:gd name="adj" fmla="val 7619"/>
            </a:avLst>
          </a:prstGeom>
          <a:solidFill>
            <a:srgbClr val="2C5F2D"/>
          </a:solidFill>
          <a:ln/>
        </p:spPr>
      </p:sp>
      <p:sp>
        <p:nvSpPr>
          <p:cNvPr id="9" name="Text 7"/>
          <p:cNvSpPr/>
          <p:nvPr/>
        </p:nvSpPr>
        <p:spPr>
          <a:xfrm>
            <a:off x="7132320" y="3703320"/>
            <a:ext cx="4480560" cy="960120"/>
          </a:xfrm>
          <a:prstGeom prst="rect">
            <a:avLst/>
          </a:prstGeom>
          <a:noFill/>
          <a:ln/>
        </p:spPr>
        <p:txBody>
          <a:bodyPr wrap="square" rtlCol="0" anchor="ctr"/>
          <a:lstStyle/>
          <a:p>
            <a:pPr indent="0" marL="0">
              <a:buNone/>
            </a:pPr>
            <a:r>
              <a:rPr lang="en-US" sz="1400" dirty="0">
                <a:solidFill>
                  <a:srgbClr val="F5F5F5"/>
                </a:solidFill>
                <a:latin typeface="Calibri" pitchFamily="34" charset="0"/>
                <a:ea typeface="Calibri" pitchFamily="34" charset="-122"/>
                <a:cs typeface="Calibri" pitchFamily="34" charset="-120"/>
              </a:rPr>
              <a:t>Best from-scratch model — </a:t>
            </a:r>
            <a:pPr indent="0" marL="0">
              <a:buNone/>
            </a:pPr>
            <a:r>
              <a:rPr lang="en-US" sz="1800" b="1" dirty="0">
                <a:solidFill>
                  <a:srgbClr val="FFFFFF"/>
                </a:solidFill>
                <a:latin typeface="Calibri" pitchFamily="34" charset="0"/>
                <a:ea typeface="Calibri" pitchFamily="34" charset="-122"/>
                <a:cs typeface="Calibri" pitchFamily="34" charset="-120"/>
              </a:rPr>
              <a:t>val accuracy 0.740</a:t>
            </a:r>
            <a:endParaRPr lang="en-US" sz="1400" dirty="0"/>
          </a:p>
        </p:txBody>
      </p:sp>
      <p:sp>
        <p:nvSpPr>
          <p:cNvPr id="10" name="Text 8"/>
          <p:cNvSpPr/>
          <p:nvPr/>
        </p:nvSpPr>
        <p:spPr>
          <a:xfrm>
            <a:off x="548640" y="4892040"/>
            <a:ext cx="11155680" cy="548640"/>
          </a:xfrm>
          <a:prstGeom prst="rect">
            <a:avLst/>
          </a:prstGeom>
          <a:noFill/>
          <a:ln/>
        </p:spPr>
        <p:txBody>
          <a:bodyPr wrap="square" rtlCol="0" anchor="ctr"/>
          <a:lstStyle/>
          <a:p>
            <a:pPr indent="0" marL="0">
              <a:buNone/>
            </a:pPr>
            <a:r>
              <a:rPr lang="en-US" sz="1400" i="1" dirty="0">
                <a:solidFill>
                  <a:srgbClr val="5A6B5A"/>
                </a:solidFill>
                <a:latin typeface="Calibri" pitchFamily="34" charset="0"/>
                <a:ea typeface="Calibri" pitchFamily="34" charset="-122"/>
                <a:cs typeface="Calibri" pitchFamily="34" charset="-120"/>
              </a:rPr>
              <a:t>Same conv backbone throughout — only the head/technique changes, so every comparison is fair.</a:t>
            </a:r>
            <a:endParaRPr lang="en-US" sz="1400" dirty="0"/>
          </a:p>
        </p:txBody>
      </p:sp>
      <p:sp>
        <p:nvSpPr>
          <p:cNvPr id="11" name="Text 9"/>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Fighting overfitting — one lever at a time</a:t>
            </a:r>
            <a:endParaRPr lang="en-US" sz="3000" dirty="0"/>
          </a:p>
        </p:txBody>
      </p:sp>
      <p:sp>
        <p:nvSpPr>
          <p:cNvPr id="3" name="Shape 1"/>
          <p:cNvSpPr/>
          <p:nvPr/>
        </p:nvSpPr>
        <p:spPr>
          <a:xfrm>
            <a:off x="640080" y="1600200"/>
            <a:ext cx="640080" cy="640080"/>
          </a:xfrm>
          <a:prstGeom prst="ellipse">
            <a:avLst/>
          </a:prstGeom>
          <a:solidFill>
            <a:srgbClr val="2C5F2D"/>
          </a:solidFill>
          <a:ln/>
        </p:spPr>
      </p:sp>
      <p:sp>
        <p:nvSpPr>
          <p:cNvPr id="4" name="Text 2"/>
          <p:cNvSpPr/>
          <p:nvPr/>
        </p:nvSpPr>
        <p:spPr>
          <a:xfrm>
            <a:off x="640080" y="160020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463040" y="1508760"/>
            <a:ext cx="475488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Global Average Pooling</a:t>
            </a:r>
            <a:endParaRPr lang="en-US" sz="1700" dirty="0"/>
          </a:p>
        </p:txBody>
      </p:sp>
      <p:sp>
        <p:nvSpPr>
          <p:cNvPr id="6" name="Text 4"/>
          <p:cNvSpPr/>
          <p:nvPr/>
        </p:nvSpPr>
        <p:spPr>
          <a:xfrm>
            <a:off x="1463040" y="1938528"/>
            <a:ext cx="4800600" cy="64008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The main fix — tiny dense head, far less overfitting.</a:t>
            </a:r>
            <a:endParaRPr lang="en-US" sz="1300" dirty="0"/>
          </a:p>
        </p:txBody>
      </p:sp>
      <p:sp>
        <p:nvSpPr>
          <p:cNvPr id="7" name="Shape 5"/>
          <p:cNvSpPr/>
          <p:nvPr/>
        </p:nvSpPr>
        <p:spPr>
          <a:xfrm>
            <a:off x="6355080" y="1600200"/>
            <a:ext cx="640080" cy="640080"/>
          </a:xfrm>
          <a:prstGeom prst="ellipse">
            <a:avLst/>
          </a:prstGeom>
          <a:solidFill>
            <a:srgbClr val="2C5F2D"/>
          </a:solidFill>
          <a:ln/>
        </p:spPr>
      </p:sp>
      <p:sp>
        <p:nvSpPr>
          <p:cNvPr id="8" name="Text 6"/>
          <p:cNvSpPr/>
          <p:nvPr/>
        </p:nvSpPr>
        <p:spPr>
          <a:xfrm>
            <a:off x="6355080" y="160020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7178040" y="1508760"/>
            <a:ext cx="475488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Dropout (0.5)</a:t>
            </a:r>
            <a:endParaRPr lang="en-US" sz="1700" dirty="0"/>
          </a:p>
        </p:txBody>
      </p:sp>
      <p:sp>
        <p:nvSpPr>
          <p:cNvPr id="10" name="Text 8"/>
          <p:cNvSpPr/>
          <p:nvPr/>
        </p:nvSpPr>
        <p:spPr>
          <a:xfrm>
            <a:off x="7178040" y="1938528"/>
            <a:ext cx="4800600" cy="64008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Randomly drops units so the net can't memorize.</a:t>
            </a:r>
            <a:endParaRPr lang="en-US" sz="1300" dirty="0"/>
          </a:p>
        </p:txBody>
      </p:sp>
      <p:sp>
        <p:nvSpPr>
          <p:cNvPr id="11" name="Shape 9"/>
          <p:cNvSpPr/>
          <p:nvPr/>
        </p:nvSpPr>
        <p:spPr>
          <a:xfrm>
            <a:off x="640080" y="3017520"/>
            <a:ext cx="640080" cy="640080"/>
          </a:xfrm>
          <a:prstGeom prst="ellipse">
            <a:avLst/>
          </a:prstGeom>
          <a:solidFill>
            <a:srgbClr val="2C5F2D"/>
          </a:solidFill>
          <a:ln/>
        </p:spPr>
      </p:sp>
      <p:sp>
        <p:nvSpPr>
          <p:cNvPr id="12" name="Text 10"/>
          <p:cNvSpPr/>
          <p:nvPr/>
        </p:nvSpPr>
        <p:spPr>
          <a:xfrm>
            <a:off x="640080" y="301752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463040" y="2926080"/>
            <a:ext cx="475488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Early Stopping</a:t>
            </a:r>
            <a:endParaRPr lang="en-US" sz="1700" dirty="0"/>
          </a:p>
        </p:txBody>
      </p:sp>
      <p:sp>
        <p:nvSpPr>
          <p:cNvPr id="14" name="Text 12"/>
          <p:cNvSpPr/>
          <p:nvPr/>
        </p:nvSpPr>
        <p:spPr>
          <a:xfrm>
            <a:off x="1463040" y="3355848"/>
            <a:ext cx="4800600" cy="64008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Watches val_loss, restores the best weights automatically.</a:t>
            </a:r>
            <a:endParaRPr lang="en-US" sz="1300" dirty="0"/>
          </a:p>
        </p:txBody>
      </p:sp>
      <p:sp>
        <p:nvSpPr>
          <p:cNvPr id="15" name="Shape 13"/>
          <p:cNvSpPr/>
          <p:nvPr/>
        </p:nvSpPr>
        <p:spPr>
          <a:xfrm>
            <a:off x="6355080" y="3017520"/>
            <a:ext cx="640080" cy="640080"/>
          </a:xfrm>
          <a:prstGeom prst="ellipse">
            <a:avLst/>
          </a:prstGeom>
          <a:solidFill>
            <a:srgbClr val="2C5F2D"/>
          </a:solidFill>
          <a:ln/>
        </p:spPr>
      </p:sp>
      <p:sp>
        <p:nvSpPr>
          <p:cNvPr id="16" name="Text 14"/>
          <p:cNvSpPr/>
          <p:nvPr/>
        </p:nvSpPr>
        <p:spPr>
          <a:xfrm>
            <a:off x="6355080" y="301752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7178040" y="2926080"/>
            <a:ext cx="475488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Adam · lr 0.001</a:t>
            </a:r>
            <a:endParaRPr lang="en-US" sz="1700" dirty="0"/>
          </a:p>
        </p:txBody>
      </p:sp>
      <p:sp>
        <p:nvSpPr>
          <p:cNvPr id="18" name="Text 16"/>
          <p:cNvSpPr/>
          <p:nvPr/>
        </p:nvSpPr>
        <p:spPr>
          <a:xfrm>
            <a:off x="7178040" y="3355848"/>
            <a:ext cx="4800600" cy="64008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Adaptive optimizer, categorical cross-entropy loss.</a:t>
            </a:r>
            <a:endParaRPr lang="en-US" sz="1300" dirty="0"/>
          </a:p>
        </p:txBody>
      </p:sp>
      <p:sp>
        <p:nvSpPr>
          <p:cNvPr id="19" name="Shape 17"/>
          <p:cNvSpPr/>
          <p:nvPr/>
        </p:nvSpPr>
        <p:spPr>
          <a:xfrm>
            <a:off x="640080" y="4434840"/>
            <a:ext cx="640080" cy="640080"/>
          </a:xfrm>
          <a:prstGeom prst="ellipse">
            <a:avLst/>
          </a:prstGeom>
          <a:solidFill>
            <a:srgbClr val="97BC62"/>
          </a:solidFill>
          <a:ln/>
        </p:spPr>
      </p:sp>
      <p:sp>
        <p:nvSpPr>
          <p:cNvPr id="20" name="Text 18"/>
          <p:cNvSpPr/>
          <p:nvPr/>
        </p:nvSpPr>
        <p:spPr>
          <a:xfrm>
            <a:off x="640080" y="44348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1" name="Text 19"/>
          <p:cNvSpPr/>
          <p:nvPr/>
        </p:nvSpPr>
        <p:spPr>
          <a:xfrm>
            <a:off x="1463040" y="4343400"/>
            <a:ext cx="475488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Data augmentation</a:t>
            </a:r>
            <a:endParaRPr lang="en-US" sz="1700" dirty="0"/>
          </a:p>
        </p:txBody>
      </p:sp>
      <p:sp>
        <p:nvSpPr>
          <p:cNvPr id="22" name="Text 20"/>
          <p:cNvSpPr/>
          <p:nvPr/>
        </p:nvSpPr>
        <p:spPr>
          <a:xfrm>
            <a:off x="1463040" y="4773168"/>
            <a:ext cx="4800600" cy="64008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Flip / rotate / shift / zoom — tested (didn't help here).</a:t>
            </a:r>
            <a:endParaRPr lang="en-US" sz="1300" dirty="0"/>
          </a:p>
        </p:txBody>
      </p:sp>
      <p:sp>
        <p:nvSpPr>
          <p:cNvPr id="23" name="Shape 21"/>
          <p:cNvSpPr/>
          <p:nvPr/>
        </p:nvSpPr>
        <p:spPr>
          <a:xfrm>
            <a:off x="6355080" y="4434840"/>
            <a:ext cx="640080" cy="640080"/>
          </a:xfrm>
          <a:prstGeom prst="ellipse">
            <a:avLst/>
          </a:prstGeom>
          <a:solidFill>
            <a:srgbClr val="97BC62"/>
          </a:solidFill>
          <a:ln/>
        </p:spPr>
      </p:sp>
      <p:sp>
        <p:nvSpPr>
          <p:cNvPr id="24" name="Text 22"/>
          <p:cNvSpPr/>
          <p:nvPr/>
        </p:nvSpPr>
        <p:spPr>
          <a:xfrm>
            <a:off x="6355080" y="443484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5" name="Text 23"/>
          <p:cNvSpPr/>
          <p:nvPr/>
        </p:nvSpPr>
        <p:spPr>
          <a:xfrm>
            <a:off x="7178040" y="4343400"/>
            <a:ext cx="4754880" cy="45720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Batch Normalization</a:t>
            </a:r>
            <a:endParaRPr lang="en-US" sz="1700" dirty="0"/>
          </a:p>
        </p:txBody>
      </p:sp>
      <p:sp>
        <p:nvSpPr>
          <p:cNvPr id="26" name="Text 24"/>
          <p:cNvSpPr/>
          <p:nvPr/>
        </p:nvSpPr>
        <p:spPr>
          <a:xfrm>
            <a:off x="7178040" y="4773168"/>
            <a:ext cx="4800600" cy="64008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Tested in a separate variant — didn't beat plain GAP.</a:t>
            </a:r>
            <a:endParaRPr lang="en-US" sz="1300" dirty="0"/>
          </a:p>
        </p:txBody>
      </p:sp>
      <p:sp>
        <p:nvSpPr>
          <p:cNvPr id="27" name="Text 25"/>
          <p:cNvSpPr/>
          <p:nvPr/>
        </p:nvSpPr>
        <p:spPr>
          <a:xfrm>
            <a:off x="640080" y="5989320"/>
            <a:ext cx="10972800" cy="457200"/>
          </a:xfrm>
          <a:prstGeom prst="rect">
            <a:avLst/>
          </a:prstGeom>
          <a:noFill/>
          <a:ln/>
        </p:spPr>
        <p:txBody>
          <a:bodyPr wrap="square" rtlCol="0" anchor="ctr"/>
          <a:lstStyle/>
          <a:p>
            <a:pPr indent="0" marL="0">
              <a:buNone/>
            </a:pPr>
            <a:r>
              <a:rPr lang="en-US" sz="1450" b="1" i="1" dirty="0">
                <a:solidFill>
                  <a:srgbClr val="2C5F2D"/>
                </a:solidFill>
                <a:latin typeface="Calibri" pitchFamily="34" charset="0"/>
                <a:ea typeface="Calibri" pitchFamily="34" charset="-122"/>
                <a:cs typeface="Calibri" pitchFamily="34" charset="-120"/>
              </a:rPr>
              <a:t>Rule of the sweep: change one thing per experiment → every result is comparable.</a:t>
            </a:r>
            <a:endParaRPr lang="en-US" sz="1450" dirty="0"/>
          </a:p>
        </p:txBody>
      </p:sp>
      <p:sp>
        <p:nvSpPr>
          <p:cNvPr id="28" name="Text 26"/>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I let the data decide</a:t>
            </a:r>
            <a:endParaRPr lang="en-US" sz="3000" dirty="0"/>
          </a:p>
        </p:txBody>
      </p:sp>
      <p:pic>
        <p:nvPicPr>
          <p:cNvPr id="3" name="Image 0" descr="C:\Users\GBT H610M-\Documents\ironHack\task\project-2\presentation_assets\model_comparison.png">    </p:cNvPr>
          <p:cNvPicPr>
            <a:picLocks noChangeAspect="1"/>
          </p:cNvPicPr>
          <p:nvPr/>
        </p:nvPicPr>
        <p:blipFill>
          <a:blip r:embed="rId1"/>
          <a:srcRect l="0" r="0" t="0" b="0"/>
          <a:stretch/>
        </p:blipFill>
        <p:spPr>
          <a:xfrm>
            <a:off x="457200" y="1417320"/>
            <a:ext cx="7040880" cy="4754880"/>
          </a:xfrm>
          <a:prstGeom prst="rect">
            <a:avLst/>
          </a:prstGeom>
        </p:spPr>
      </p:pic>
      <p:sp>
        <p:nvSpPr>
          <p:cNvPr id="4" name="Text 1"/>
          <p:cNvSpPr/>
          <p:nvPr/>
        </p:nvSpPr>
        <p:spPr>
          <a:xfrm>
            <a:off x="7772400" y="1737360"/>
            <a:ext cx="4023360" cy="4389120"/>
          </a:xfrm>
          <a:prstGeom prst="rect">
            <a:avLst/>
          </a:prstGeom>
          <a:noFill/>
          <a:ln/>
        </p:spPr>
        <p:txBody>
          <a:bodyPr wrap="square" rtlCol="0" anchor="t"/>
          <a:lstStyle/>
          <a:p>
            <a:pPr marL="228600" indent="-228600">
              <a:spcAft>
                <a:spcPts val="800"/>
              </a:spcAft>
              <a:buSzPct val="100000"/>
              <a:buChar char="•"/>
            </a:pPr>
            <a:r>
              <a:rPr lang="en-US" sz="1600" b="1" dirty="0">
                <a:solidFill>
                  <a:srgbClr val="2C5F2D"/>
                </a:solidFill>
                <a:latin typeface="Calibri" pitchFamily="34" charset="0"/>
                <a:ea typeface="Calibri" pitchFamily="34" charset="-122"/>
                <a:cs typeface="Calibri" pitchFamily="34" charset="-120"/>
              </a:rPr>
              <a:t>Ran a controlled sweep of 8 models.</a:t>
            </a:r>
            <a:endParaRPr lang="en-US" sz="1600" dirty="0"/>
          </a:p>
          <a:p>
            <a:pPr marL="228600" indent="-228600">
              <a:spcAft>
                <a:spcPts val="800"/>
              </a:spcAft>
              <a:buSzPct val="100000"/>
              <a:buChar char="•"/>
            </a:pPr>
            <a:r>
              <a:rPr lang="en-US" sz="1450" dirty="0">
                <a:solidFill>
                  <a:srgbClr val="1E2B1E"/>
                </a:solidFill>
                <a:latin typeface="Calibri" pitchFamily="34" charset="0"/>
                <a:ea typeface="Calibri" pitchFamily="34" charset="-122"/>
                <a:cs typeface="Calibri" pitchFamily="34" charset="-120"/>
              </a:rPr>
              <a:t>BatchNorm, augmentation (×2) and extra depth — none beat plain GAP.</a:t>
            </a:r>
            <a:endParaRPr lang="en-US" sz="1600" dirty="0"/>
          </a:p>
          <a:p>
            <a:pPr marL="228600" indent="-228600">
              <a:spcAft>
                <a:spcPts val="800"/>
              </a:spcAft>
              <a:buSzPct val="100000"/>
              <a:buChar char="•"/>
            </a:pPr>
            <a:r>
              <a:rPr lang="en-US" sz="1450" dirty="0">
                <a:solidFill>
                  <a:srgbClr val="1E2B1E"/>
                </a:solidFill>
                <a:latin typeface="Calibri" pitchFamily="34" charset="0"/>
                <a:ea typeface="Calibri" pitchFamily="34" charset="-122"/>
                <a:cs typeface="Calibri" pitchFamily="34" charset="-120"/>
              </a:rPr>
              <a:t>gap_deep collapsed to random guessing at lr 0.001 — a textbook case for BatchNorm / a lower learning rate.</a:t>
            </a:r>
            <a:endParaRPr lang="en-US" sz="1600" dirty="0"/>
          </a:p>
          <a:p>
            <a:pPr marL="228600" indent="-228600">
              <a:spcAft>
                <a:spcPts val="800"/>
              </a:spcAft>
              <a:buSzPct val="100000"/>
              <a:buChar char="•"/>
            </a:pPr>
            <a:r>
              <a:rPr lang="en-US" sz="1450" b="1" dirty="0">
                <a:solidFill>
                  <a:srgbClr val="1E2B1E"/>
                </a:solidFill>
                <a:latin typeface="Calibri" pitchFamily="34" charset="0"/>
                <a:ea typeface="Calibri" pitchFamily="34" charset="-122"/>
                <a:cs typeface="Calibri" pitchFamily="34" charset="-120"/>
              </a:rPr>
              <a:t>Negative results, but they show the method.</a:t>
            </a:r>
            <a:endParaRPr lang="en-US" sz="1600" dirty="0"/>
          </a:p>
        </p:txBody>
      </p:sp>
      <p:sp>
        <p:nvSpPr>
          <p:cNvPr id="5" name="Text 2"/>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Transfer learning: the leap</a:t>
            </a:r>
            <a:endParaRPr lang="en-US" sz="3000" dirty="0"/>
          </a:p>
        </p:txBody>
      </p:sp>
      <p:sp>
        <p:nvSpPr>
          <p:cNvPr id="3" name="Text 1"/>
          <p:cNvSpPr/>
          <p:nvPr/>
        </p:nvSpPr>
        <p:spPr>
          <a:xfrm>
            <a:off x="548640" y="1417320"/>
            <a:ext cx="6400800" cy="3657600"/>
          </a:xfrm>
          <a:prstGeom prst="rect">
            <a:avLst/>
          </a:prstGeom>
          <a:noFill/>
          <a:ln/>
        </p:spPr>
        <p:txBody>
          <a:bodyPr wrap="square" rtlCol="0" anchor="t"/>
          <a:lstStyle/>
          <a:p>
            <a:pPr marL="228600" indent="-228600">
              <a:spcAft>
                <a:spcPts val="800"/>
              </a:spcAft>
              <a:buSzPct val="100000"/>
              <a:buChar char="•"/>
            </a:pPr>
            <a:r>
              <a:rPr lang="en-US" sz="1600" b="1" dirty="0">
                <a:solidFill>
                  <a:srgbClr val="1E2B1E"/>
                </a:solidFill>
                <a:latin typeface="Calibri" pitchFamily="34" charset="0"/>
                <a:ea typeface="Calibri" pitchFamily="34" charset="-122"/>
                <a:cs typeface="Calibri" pitchFamily="34" charset="-120"/>
              </a:rPr>
              <a:t>Pretrained model: MobileNetV2 (ImageNet weights), used frozen as a feature extractor.</a:t>
            </a:r>
            <a:endParaRPr lang="en-US" sz="1600" dirty="0"/>
          </a:p>
          <a:p>
            <a:pPr marL="228600" indent="-228600">
              <a:spcAft>
                <a:spcPts val="800"/>
              </a:spcAft>
              <a:buSzPct val="100000"/>
              <a:buChar char="•"/>
            </a:pPr>
            <a:r>
              <a:rPr lang="en-US" sz="1500" dirty="0">
                <a:solidFill>
                  <a:srgbClr val="1E2B1E"/>
                </a:solidFill>
                <a:latin typeface="Calibri" pitchFamily="34" charset="0"/>
                <a:ea typeface="Calibri" pitchFamily="34" charset="-122"/>
                <a:cs typeface="Calibri" pitchFamily="34" charset="-120"/>
              </a:rPr>
              <a:t>Why: lightweight — trains in ~4 min on CPU — yet its ImageNet features (edges, textures, shapes) transfer well to animals.</a:t>
            </a:r>
            <a:endParaRPr lang="en-US" sz="1600" dirty="0"/>
          </a:p>
          <a:p>
            <a:pPr marL="228600" indent="-228600">
              <a:spcAft>
                <a:spcPts val="800"/>
              </a:spcAft>
              <a:buSzPct val="100000"/>
              <a:buChar char="•"/>
            </a:pPr>
            <a:r>
              <a:rPr lang="en-US" sz="1500" dirty="0">
                <a:solidFill>
                  <a:srgbClr val="1E2B1E"/>
                </a:solidFill>
                <a:latin typeface="Calibri" pitchFamily="34" charset="0"/>
                <a:ea typeface="Calibri" pitchFamily="34" charset="-122"/>
                <a:cs typeface="Calibri" pitchFamily="34" charset="-120"/>
              </a:rPr>
              <a:t>Modifications: baked the [0,1]→[-1,1] rescale into the model, then GAP → Dropout → Dense(10, softmax).</a:t>
            </a:r>
            <a:endParaRPr lang="en-US" sz="1600" dirty="0"/>
          </a:p>
          <a:p>
            <a:pPr marL="228600" indent="-228600">
              <a:spcAft>
                <a:spcPts val="800"/>
              </a:spcAft>
              <a:buSzPct val="100000"/>
              <a:buChar char="•"/>
            </a:pPr>
            <a:r>
              <a:rPr lang="en-US" sz="1500" b="1" dirty="0">
                <a:solidFill>
                  <a:srgbClr val="2C5F2D"/>
                </a:solidFill>
                <a:latin typeface="Calibri" pitchFamily="34" charset="0"/>
                <a:ea typeface="Calibri" pitchFamily="34" charset="-122"/>
                <a:cs typeface="Calibri" pitchFamily="34" charset="-120"/>
              </a:rPr>
              <a:t>Only ~13,000 trainable parameters — the pretrained base does the heavy lifting.</a:t>
            </a:r>
            <a:endParaRPr lang="en-US" sz="1600" dirty="0"/>
          </a:p>
        </p:txBody>
      </p:sp>
      <p:sp>
        <p:nvSpPr>
          <p:cNvPr id="4" name="Text 2"/>
          <p:cNvSpPr/>
          <p:nvPr/>
        </p:nvSpPr>
        <p:spPr>
          <a:xfrm>
            <a:off x="731520" y="5257800"/>
            <a:ext cx="2377440" cy="640080"/>
          </a:xfrm>
          <a:prstGeom prst="rect">
            <a:avLst/>
          </a:prstGeom>
          <a:noFill/>
          <a:ln/>
        </p:spPr>
        <p:txBody>
          <a:bodyPr wrap="square" lIns="0" tIns="0" rIns="0" bIns="0"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0.940</a:t>
            </a:r>
            <a:endParaRPr lang="en-US" sz="3400" dirty="0"/>
          </a:p>
        </p:txBody>
      </p:sp>
      <p:sp>
        <p:nvSpPr>
          <p:cNvPr id="5" name="Text 3"/>
          <p:cNvSpPr/>
          <p:nvPr/>
        </p:nvSpPr>
        <p:spPr>
          <a:xfrm>
            <a:off x="731520" y="5879592"/>
            <a:ext cx="237744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val accuracy</a:t>
            </a:r>
            <a:endParaRPr lang="en-US" sz="1250" dirty="0"/>
          </a:p>
        </p:txBody>
      </p:sp>
      <p:sp>
        <p:nvSpPr>
          <p:cNvPr id="6" name="Text 4"/>
          <p:cNvSpPr/>
          <p:nvPr/>
        </p:nvSpPr>
        <p:spPr>
          <a:xfrm>
            <a:off x="3291840" y="5257800"/>
            <a:ext cx="2377440" cy="640080"/>
          </a:xfrm>
          <a:prstGeom prst="rect">
            <a:avLst/>
          </a:prstGeom>
          <a:noFill/>
          <a:ln/>
        </p:spPr>
        <p:txBody>
          <a:bodyPr wrap="square" lIns="0" tIns="0" rIns="0" bIns="0" rtlCol="0" anchor="ctr"/>
          <a:lstStyle/>
          <a:p>
            <a:pPr algn="ctr" indent="0" marL="0">
              <a:buNone/>
            </a:pPr>
            <a:r>
              <a:rPr lang="en-US" sz="3400" b="1" dirty="0">
                <a:solidFill>
                  <a:srgbClr val="E07A3E"/>
                </a:solidFill>
                <a:latin typeface="Cambria" pitchFamily="34" charset="0"/>
                <a:ea typeface="Cambria" pitchFamily="34" charset="-122"/>
                <a:cs typeface="Cambria" pitchFamily="34" charset="-120"/>
              </a:rPr>
              <a:t>0.943</a:t>
            </a:r>
            <a:endParaRPr lang="en-US" sz="3400" dirty="0"/>
          </a:p>
        </p:txBody>
      </p:sp>
      <p:sp>
        <p:nvSpPr>
          <p:cNvPr id="7" name="Text 5"/>
          <p:cNvSpPr/>
          <p:nvPr/>
        </p:nvSpPr>
        <p:spPr>
          <a:xfrm>
            <a:off x="3291840" y="5879592"/>
            <a:ext cx="237744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test accuracy</a:t>
            </a:r>
            <a:endParaRPr lang="en-US" sz="1250" dirty="0"/>
          </a:p>
        </p:txBody>
      </p:sp>
      <p:sp>
        <p:nvSpPr>
          <p:cNvPr id="8" name="Text 6"/>
          <p:cNvSpPr/>
          <p:nvPr/>
        </p:nvSpPr>
        <p:spPr>
          <a:xfrm>
            <a:off x="5852160" y="5257800"/>
            <a:ext cx="2377440" cy="640080"/>
          </a:xfrm>
          <a:prstGeom prst="rect">
            <a:avLst/>
          </a:prstGeom>
          <a:noFill/>
          <a:ln/>
        </p:spPr>
        <p:txBody>
          <a:bodyPr wrap="square" lIns="0" tIns="0" rIns="0" bIns="0"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+20 pts</a:t>
            </a:r>
            <a:endParaRPr lang="en-US" sz="3400" dirty="0"/>
          </a:p>
        </p:txBody>
      </p:sp>
      <p:sp>
        <p:nvSpPr>
          <p:cNvPr id="9" name="Text 7"/>
          <p:cNvSpPr/>
          <p:nvPr/>
        </p:nvSpPr>
        <p:spPr>
          <a:xfrm>
            <a:off x="5852160" y="5879592"/>
            <a:ext cx="237744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vs from-scratch</a:t>
            </a:r>
            <a:endParaRPr lang="en-US" sz="1250" dirty="0"/>
          </a:p>
        </p:txBody>
      </p:sp>
      <p:sp>
        <p:nvSpPr>
          <p:cNvPr id="10" name="Text 8"/>
          <p:cNvSpPr/>
          <p:nvPr/>
        </p:nvSpPr>
        <p:spPr>
          <a:xfrm>
            <a:off x="8412480" y="5257800"/>
            <a:ext cx="2377440" cy="640080"/>
          </a:xfrm>
          <a:prstGeom prst="rect">
            <a:avLst/>
          </a:prstGeom>
          <a:noFill/>
          <a:ln/>
        </p:spPr>
        <p:txBody>
          <a:bodyPr wrap="square" lIns="0" tIns="0" rIns="0" bIns="0"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~4 min</a:t>
            </a:r>
            <a:endParaRPr lang="en-US" sz="3400" dirty="0"/>
          </a:p>
        </p:txBody>
      </p:sp>
      <p:sp>
        <p:nvSpPr>
          <p:cNvPr id="11" name="Text 9"/>
          <p:cNvSpPr/>
          <p:nvPr/>
        </p:nvSpPr>
        <p:spPr>
          <a:xfrm>
            <a:off x="8412480" y="5879592"/>
            <a:ext cx="2377440" cy="411480"/>
          </a:xfrm>
          <a:prstGeom prst="rect">
            <a:avLst/>
          </a:prstGeom>
          <a:noFill/>
          <a:ln/>
        </p:spPr>
        <p:txBody>
          <a:bodyPr wrap="square" lIns="0" tIns="0" rIns="0" bIns="0" rtlCol="0" anchor="ctr"/>
          <a:lstStyle/>
          <a:p>
            <a:pPr algn="ctr" indent="0" marL="0">
              <a:buNone/>
            </a:pPr>
            <a:r>
              <a:rPr lang="en-US" sz="1250" dirty="0">
                <a:solidFill>
                  <a:srgbClr val="5A6B5A"/>
                </a:solidFill>
                <a:latin typeface="Calibri" pitchFamily="34" charset="0"/>
                <a:ea typeface="Calibri" pitchFamily="34" charset="-122"/>
                <a:cs typeface="Calibri" pitchFamily="34" charset="-120"/>
              </a:rPr>
              <a:t>training time</a:t>
            </a:r>
            <a:endParaRPr lang="en-US" sz="1250" dirty="0"/>
          </a:p>
        </p:txBody>
      </p:sp>
      <p:sp>
        <p:nvSpPr>
          <p:cNvPr id="12" name="Shape 10"/>
          <p:cNvSpPr/>
          <p:nvPr/>
        </p:nvSpPr>
        <p:spPr>
          <a:xfrm>
            <a:off x="7315200" y="1554480"/>
            <a:ext cx="4480560" cy="3429000"/>
          </a:xfrm>
          <a:prstGeom prst="roundRect">
            <a:avLst>
              <a:gd name="adj" fmla="val 2133"/>
            </a:avLst>
          </a:prstGeom>
          <a:solidFill>
            <a:srgbClr val="F5F5F5"/>
          </a:solidFill>
          <a:ln w="12700">
            <a:solidFill>
              <a:srgbClr val="97BC62"/>
            </a:solidFill>
            <a:prstDash val="solid"/>
          </a:ln>
        </p:spPr>
      </p:sp>
      <p:sp>
        <p:nvSpPr>
          <p:cNvPr id="13" name="Text 11"/>
          <p:cNvSpPr/>
          <p:nvPr/>
        </p:nvSpPr>
        <p:spPr>
          <a:xfrm>
            <a:off x="7498080" y="1691640"/>
            <a:ext cx="4114800" cy="365760"/>
          </a:xfrm>
          <a:prstGeom prst="rect">
            <a:avLst/>
          </a:prstGeom>
          <a:noFill/>
          <a:ln/>
        </p:spPr>
        <p:txBody>
          <a:bodyPr wrap="square" rtlCol="0" anchor="ctr"/>
          <a:lstStyle/>
          <a:p>
            <a:pPr indent="0" marL="0">
              <a:buNone/>
            </a:pPr>
            <a:r>
              <a:rPr lang="en-US" sz="1500" b="1" dirty="0">
                <a:solidFill>
                  <a:srgbClr val="2C5F2D"/>
                </a:solidFill>
                <a:latin typeface="Cambria" pitchFamily="34" charset="0"/>
                <a:ea typeface="Cambria" pitchFamily="34" charset="-122"/>
                <a:cs typeface="Cambria" pitchFamily="34" charset="-120"/>
              </a:rPr>
              <a:t>The architecture</a:t>
            </a:r>
            <a:endParaRPr lang="en-US" sz="1500" dirty="0"/>
          </a:p>
        </p:txBody>
      </p:sp>
      <p:sp>
        <p:nvSpPr>
          <p:cNvPr id="14" name="Text 12"/>
          <p:cNvSpPr/>
          <p:nvPr/>
        </p:nvSpPr>
        <p:spPr>
          <a:xfrm>
            <a:off x="7635240" y="2148840"/>
            <a:ext cx="4023360" cy="2743200"/>
          </a:xfrm>
          <a:prstGeom prst="rect">
            <a:avLst/>
          </a:prstGeom>
          <a:noFill/>
          <a:ln/>
        </p:spPr>
        <p:txBody>
          <a:bodyPr wrap="square" rtlCol="0" anchor="t"/>
          <a:lstStyle/>
          <a:p>
            <a:pPr marL="342900" indent="-342900">
              <a:spcAft>
                <a:spcPts val="700"/>
              </a:spcAft>
              <a:buSzPct val="100000"/>
              <a:buChar char="→"/>
            </a:pPr>
            <a:r>
              <a:rPr lang="en-US" sz="1400" dirty="0">
                <a:solidFill>
                  <a:srgbClr val="1E2B1E"/>
                </a:solidFill>
                <a:latin typeface="Calibri" pitchFamily="34" charset="0"/>
                <a:ea typeface="Calibri" pitchFamily="34" charset="-122"/>
                <a:cs typeface="Calibri" pitchFamily="34" charset="-120"/>
              </a:rPr>
              <a:t>Input 128×128×3</a:t>
            </a:r>
            <a:endParaRPr lang="en-US" sz="1400" dirty="0"/>
          </a:p>
          <a:p>
            <a:pPr marL="342900" indent="-342900">
              <a:spcAft>
                <a:spcPts val="700"/>
              </a:spcAft>
              <a:buSzPct val="100000"/>
              <a:buChar char="→"/>
            </a:pPr>
            <a:r>
              <a:rPr lang="en-US" sz="1400" dirty="0">
                <a:solidFill>
                  <a:srgbClr val="1E2B1E"/>
                </a:solidFill>
                <a:latin typeface="Calibri" pitchFamily="34" charset="0"/>
                <a:ea typeface="Calibri" pitchFamily="34" charset="-122"/>
                <a:cs typeface="Calibri" pitchFamily="34" charset="-120"/>
              </a:rPr>
              <a:t>Rescale → [-1, 1]</a:t>
            </a:r>
            <a:endParaRPr lang="en-US" sz="1400" dirty="0"/>
          </a:p>
          <a:p>
            <a:pPr marL="342900" indent="-342900">
              <a:spcAft>
                <a:spcPts val="700"/>
              </a:spcAft>
              <a:buSzPct val="100000"/>
              <a:buChar char="→"/>
            </a:pPr>
            <a:r>
              <a:rPr lang="en-US" sz="1400" b="1" dirty="0">
                <a:solidFill>
                  <a:srgbClr val="E07A3E"/>
                </a:solidFill>
                <a:latin typeface="Calibri" pitchFamily="34" charset="0"/>
                <a:ea typeface="Calibri" pitchFamily="34" charset="-122"/>
                <a:cs typeface="Calibri" pitchFamily="34" charset="-120"/>
              </a:rPr>
              <a:t>MobileNetV2 base (frozen)</a:t>
            </a:r>
            <a:endParaRPr lang="en-US" sz="1400" dirty="0"/>
          </a:p>
          <a:p>
            <a:pPr marL="342900" indent="-342900">
              <a:spcAft>
                <a:spcPts val="700"/>
              </a:spcAft>
              <a:buSzPct val="100000"/>
              <a:buChar char="→"/>
            </a:pPr>
            <a:r>
              <a:rPr lang="en-US" sz="1400" dirty="0">
                <a:solidFill>
                  <a:srgbClr val="1E2B1E"/>
                </a:solidFill>
                <a:latin typeface="Calibri" pitchFamily="34" charset="0"/>
                <a:ea typeface="Calibri" pitchFamily="34" charset="-122"/>
                <a:cs typeface="Calibri" pitchFamily="34" charset="-120"/>
              </a:rPr>
              <a:t>Global Average Pooling</a:t>
            </a:r>
            <a:endParaRPr lang="en-US" sz="1400" dirty="0"/>
          </a:p>
          <a:p>
            <a:pPr marL="342900" indent="-342900">
              <a:spcAft>
                <a:spcPts val="700"/>
              </a:spcAft>
              <a:buSzPct val="100000"/>
              <a:buChar char="→"/>
            </a:pPr>
            <a:r>
              <a:rPr lang="en-US" sz="1400" dirty="0">
                <a:solidFill>
                  <a:srgbClr val="1E2B1E"/>
                </a:solidFill>
                <a:latin typeface="Calibri" pitchFamily="34" charset="0"/>
                <a:ea typeface="Calibri" pitchFamily="34" charset="-122"/>
                <a:cs typeface="Calibri" pitchFamily="34" charset="-120"/>
              </a:rPr>
              <a:t>Dropout 0.5</a:t>
            </a:r>
            <a:endParaRPr lang="en-US" sz="1400" dirty="0"/>
          </a:p>
          <a:p>
            <a:pPr marL="342900" indent="-342900">
              <a:spcAft>
                <a:spcPts val="700"/>
              </a:spcAft>
              <a:buSzPct val="100000"/>
              <a:buChar char="→"/>
            </a:pPr>
            <a:r>
              <a:rPr lang="en-US" sz="1400" b="1" dirty="0">
                <a:solidFill>
                  <a:srgbClr val="1E2B1E"/>
                </a:solidFill>
                <a:latin typeface="Calibri" pitchFamily="34" charset="0"/>
                <a:ea typeface="Calibri" pitchFamily="34" charset="-122"/>
                <a:cs typeface="Calibri" pitchFamily="34" charset="-120"/>
              </a:rPr>
              <a:t>Dense(10, softmax)</a:t>
            </a:r>
            <a:endParaRPr lang="en-US" sz="1400" dirty="0"/>
          </a:p>
        </p:txBody>
      </p:sp>
      <p:sp>
        <p:nvSpPr>
          <p:cNvPr id="15" name="Text 13"/>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How the winner performs</a:t>
            </a:r>
            <a:endParaRPr lang="en-US" sz="3000" dirty="0"/>
          </a:p>
        </p:txBody>
      </p:sp>
      <p:pic>
        <p:nvPicPr>
          <p:cNvPr id="3" name="Image 0" descr="C:\Users\GBT H610M-\Documents\ironHack\task\project-2\presentation_assets\confusion_matrix.png">    </p:cNvPr>
          <p:cNvPicPr>
            <a:picLocks noChangeAspect="1"/>
          </p:cNvPicPr>
          <p:nvPr/>
        </p:nvPicPr>
        <p:blipFill>
          <a:blip r:embed="rId1"/>
          <a:srcRect l="0" r="0" t="0" b="0"/>
          <a:stretch/>
        </p:blipFill>
        <p:spPr>
          <a:xfrm>
            <a:off x="320040" y="1371600"/>
            <a:ext cx="6035040" cy="5029200"/>
          </a:xfrm>
          <a:prstGeom prst="rect">
            <a:avLst/>
          </a:prstGeom>
        </p:spPr>
      </p:pic>
      <p:sp>
        <p:nvSpPr>
          <p:cNvPr id="4" name="Shape 1"/>
          <p:cNvSpPr/>
          <p:nvPr/>
        </p:nvSpPr>
        <p:spPr>
          <a:xfrm>
            <a:off x="6766560" y="1600200"/>
            <a:ext cx="2377440" cy="1051560"/>
          </a:xfrm>
          <a:prstGeom prst="roundRect">
            <a:avLst>
              <a:gd name="adj" fmla="val 6957"/>
            </a:avLst>
          </a:prstGeom>
          <a:solidFill>
            <a:srgbClr val="2C5F2D"/>
          </a:solidFill>
          <a:ln w="12700">
            <a:solidFill>
              <a:srgbClr val="97BC62"/>
            </a:solidFill>
            <a:prstDash val="solid"/>
          </a:ln>
        </p:spPr>
      </p:sp>
      <p:sp>
        <p:nvSpPr>
          <p:cNvPr id="5" name="Text 2"/>
          <p:cNvSpPr/>
          <p:nvPr/>
        </p:nvSpPr>
        <p:spPr>
          <a:xfrm>
            <a:off x="6766560" y="1709928"/>
            <a:ext cx="2377440" cy="54864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0.943</a:t>
            </a:r>
            <a:endParaRPr lang="en-US" sz="2800" dirty="0"/>
          </a:p>
        </p:txBody>
      </p:sp>
      <p:sp>
        <p:nvSpPr>
          <p:cNvPr id="6" name="Text 3"/>
          <p:cNvSpPr/>
          <p:nvPr/>
        </p:nvSpPr>
        <p:spPr>
          <a:xfrm>
            <a:off x="6766560" y="2258568"/>
            <a:ext cx="2377440" cy="320040"/>
          </a:xfrm>
          <a:prstGeom prst="rect">
            <a:avLst/>
          </a:prstGeom>
          <a:noFill/>
          <a:ln/>
        </p:spPr>
        <p:txBody>
          <a:bodyPr wrap="square" rtlCol="0" anchor="ctr"/>
          <a:lstStyle/>
          <a:p>
            <a:pPr algn="ctr" indent="0" marL="0">
              <a:buNone/>
            </a:pPr>
            <a:r>
              <a:rPr lang="en-US" sz="1200" dirty="0">
                <a:solidFill>
                  <a:srgbClr val="F5F5F5"/>
                </a:solidFill>
                <a:latin typeface="Calibri" pitchFamily="34" charset="0"/>
                <a:ea typeface="Calibri" pitchFamily="34" charset="-122"/>
                <a:cs typeface="Calibri" pitchFamily="34" charset="-120"/>
              </a:rPr>
              <a:t>Accuracy</a:t>
            </a:r>
            <a:endParaRPr lang="en-US" sz="1200" dirty="0"/>
          </a:p>
        </p:txBody>
      </p:sp>
      <p:sp>
        <p:nvSpPr>
          <p:cNvPr id="7" name="Shape 4"/>
          <p:cNvSpPr/>
          <p:nvPr/>
        </p:nvSpPr>
        <p:spPr>
          <a:xfrm>
            <a:off x="9372600" y="1600200"/>
            <a:ext cx="2377440" cy="1051560"/>
          </a:xfrm>
          <a:prstGeom prst="roundRect">
            <a:avLst>
              <a:gd name="adj" fmla="val 6957"/>
            </a:avLst>
          </a:prstGeom>
          <a:solidFill>
            <a:srgbClr val="F5F5F5"/>
          </a:solidFill>
          <a:ln w="12700">
            <a:solidFill>
              <a:srgbClr val="97BC62"/>
            </a:solidFill>
            <a:prstDash val="solid"/>
          </a:ln>
        </p:spPr>
      </p:sp>
      <p:sp>
        <p:nvSpPr>
          <p:cNvPr id="8" name="Text 5"/>
          <p:cNvSpPr/>
          <p:nvPr/>
        </p:nvSpPr>
        <p:spPr>
          <a:xfrm>
            <a:off x="9372600" y="1709928"/>
            <a:ext cx="2377440" cy="548640"/>
          </a:xfrm>
          <a:prstGeom prst="rect">
            <a:avLst/>
          </a:prstGeom>
          <a:noFill/>
          <a:ln/>
        </p:spPr>
        <p:txBody>
          <a:bodyPr wrap="square" rtlCol="0" anchor="ctr"/>
          <a:lstStyle/>
          <a:p>
            <a:pPr algn="ctr" indent="0" marL="0">
              <a:buNone/>
            </a:pPr>
            <a:r>
              <a:rPr lang="en-US" sz="2800" b="1" dirty="0">
                <a:solidFill>
                  <a:srgbClr val="2C5F2D"/>
                </a:solidFill>
                <a:latin typeface="Cambria" pitchFamily="34" charset="0"/>
                <a:ea typeface="Cambria" pitchFamily="34" charset="-122"/>
                <a:cs typeface="Cambria" pitchFamily="34" charset="-120"/>
              </a:rPr>
              <a:t>0.935</a:t>
            </a:r>
            <a:endParaRPr lang="en-US" sz="2800" dirty="0"/>
          </a:p>
        </p:txBody>
      </p:sp>
      <p:sp>
        <p:nvSpPr>
          <p:cNvPr id="9" name="Text 6"/>
          <p:cNvSpPr/>
          <p:nvPr/>
        </p:nvSpPr>
        <p:spPr>
          <a:xfrm>
            <a:off x="9372600" y="2258568"/>
            <a:ext cx="2377440" cy="320040"/>
          </a:xfrm>
          <a:prstGeom prst="rect">
            <a:avLst/>
          </a:prstGeom>
          <a:noFill/>
          <a:ln/>
        </p:spPr>
        <p:txBody>
          <a:bodyPr wrap="square" rtlCol="0" anchor="ctr"/>
          <a:lstStyle/>
          <a:p>
            <a:pPr algn="ctr" indent="0" marL="0">
              <a:buNone/>
            </a:pPr>
            <a:r>
              <a:rPr lang="en-US" sz="1200" dirty="0">
                <a:solidFill>
                  <a:srgbClr val="5A6B5A"/>
                </a:solidFill>
                <a:latin typeface="Calibri" pitchFamily="34" charset="0"/>
                <a:ea typeface="Calibri" pitchFamily="34" charset="-122"/>
                <a:cs typeface="Calibri" pitchFamily="34" charset="-120"/>
              </a:rPr>
              <a:t>Macro F1</a:t>
            </a:r>
            <a:endParaRPr lang="en-US" sz="1200" dirty="0"/>
          </a:p>
        </p:txBody>
      </p:sp>
      <p:sp>
        <p:nvSpPr>
          <p:cNvPr id="10" name="Shape 7"/>
          <p:cNvSpPr/>
          <p:nvPr/>
        </p:nvSpPr>
        <p:spPr>
          <a:xfrm>
            <a:off x="6766560" y="2834640"/>
            <a:ext cx="2377440" cy="1051560"/>
          </a:xfrm>
          <a:prstGeom prst="roundRect">
            <a:avLst>
              <a:gd name="adj" fmla="val 6957"/>
            </a:avLst>
          </a:prstGeom>
          <a:solidFill>
            <a:srgbClr val="F5F5F5"/>
          </a:solidFill>
          <a:ln w="12700">
            <a:solidFill>
              <a:srgbClr val="97BC62"/>
            </a:solidFill>
            <a:prstDash val="solid"/>
          </a:ln>
        </p:spPr>
      </p:sp>
      <p:sp>
        <p:nvSpPr>
          <p:cNvPr id="11" name="Text 8"/>
          <p:cNvSpPr/>
          <p:nvPr/>
        </p:nvSpPr>
        <p:spPr>
          <a:xfrm>
            <a:off x="6766560" y="2944368"/>
            <a:ext cx="2377440" cy="548640"/>
          </a:xfrm>
          <a:prstGeom prst="rect">
            <a:avLst/>
          </a:prstGeom>
          <a:noFill/>
          <a:ln/>
        </p:spPr>
        <p:txBody>
          <a:bodyPr wrap="square" rtlCol="0" anchor="ctr"/>
          <a:lstStyle/>
          <a:p>
            <a:pPr algn="ctr" indent="0" marL="0">
              <a:buNone/>
            </a:pPr>
            <a:r>
              <a:rPr lang="en-US" sz="2800" b="1" dirty="0">
                <a:solidFill>
                  <a:srgbClr val="2C5F2D"/>
                </a:solidFill>
                <a:latin typeface="Cambria" pitchFamily="34" charset="0"/>
                <a:ea typeface="Cambria" pitchFamily="34" charset="-122"/>
                <a:cs typeface="Cambria" pitchFamily="34" charset="-120"/>
              </a:rPr>
              <a:t>0.934</a:t>
            </a:r>
            <a:endParaRPr lang="en-US" sz="2800" dirty="0"/>
          </a:p>
        </p:txBody>
      </p:sp>
      <p:sp>
        <p:nvSpPr>
          <p:cNvPr id="12" name="Text 9"/>
          <p:cNvSpPr/>
          <p:nvPr/>
        </p:nvSpPr>
        <p:spPr>
          <a:xfrm>
            <a:off x="6766560" y="3493008"/>
            <a:ext cx="2377440" cy="320040"/>
          </a:xfrm>
          <a:prstGeom prst="rect">
            <a:avLst/>
          </a:prstGeom>
          <a:noFill/>
          <a:ln/>
        </p:spPr>
        <p:txBody>
          <a:bodyPr wrap="square" rtlCol="0" anchor="ctr"/>
          <a:lstStyle/>
          <a:p>
            <a:pPr algn="ctr" indent="0" marL="0">
              <a:buNone/>
            </a:pPr>
            <a:r>
              <a:rPr lang="en-US" sz="1200" dirty="0">
                <a:solidFill>
                  <a:srgbClr val="5A6B5A"/>
                </a:solidFill>
                <a:latin typeface="Calibri" pitchFamily="34" charset="0"/>
                <a:ea typeface="Calibri" pitchFamily="34" charset="-122"/>
                <a:cs typeface="Calibri" pitchFamily="34" charset="-120"/>
              </a:rPr>
              <a:t>Precision</a:t>
            </a:r>
            <a:endParaRPr lang="en-US" sz="1200" dirty="0"/>
          </a:p>
        </p:txBody>
      </p:sp>
      <p:sp>
        <p:nvSpPr>
          <p:cNvPr id="13" name="Shape 10"/>
          <p:cNvSpPr/>
          <p:nvPr/>
        </p:nvSpPr>
        <p:spPr>
          <a:xfrm>
            <a:off x="9372600" y="2834640"/>
            <a:ext cx="2377440" cy="1051560"/>
          </a:xfrm>
          <a:prstGeom prst="roundRect">
            <a:avLst>
              <a:gd name="adj" fmla="val 6957"/>
            </a:avLst>
          </a:prstGeom>
          <a:solidFill>
            <a:srgbClr val="F5F5F5"/>
          </a:solidFill>
          <a:ln w="12700">
            <a:solidFill>
              <a:srgbClr val="97BC62"/>
            </a:solidFill>
            <a:prstDash val="solid"/>
          </a:ln>
        </p:spPr>
      </p:sp>
      <p:sp>
        <p:nvSpPr>
          <p:cNvPr id="14" name="Text 11"/>
          <p:cNvSpPr/>
          <p:nvPr/>
        </p:nvSpPr>
        <p:spPr>
          <a:xfrm>
            <a:off x="9372600" y="2944368"/>
            <a:ext cx="2377440" cy="548640"/>
          </a:xfrm>
          <a:prstGeom prst="rect">
            <a:avLst/>
          </a:prstGeom>
          <a:noFill/>
          <a:ln/>
        </p:spPr>
        <p:txBody>
          <a:bodyPr wrap="square" rtlCol="0" anchor="ctr"/>
          <a:lstStyle/>
          <a:p>
            <a:pPr algn="ctr" indent="0" marL="0">
              <a:buNone/>
            </a:pPr>
            <a:r>
              <a:rPr lang="en-US" sz="2800" b="1" dirty="0">
                <a:solidFill>
                  <a:srgbClr val="2C5F2D"/>
                </a:solidFill>
                <a:latin typeface="Cambria" pitchFamily="34" charset="0"/>
                <a:ea typeface="Cambria" pitchFamily="34" charset="-122"/>
                <a:cs typeface="Cambria" pitchFamily="34" charset="-120"/>
              </a:rPr>
              <a:t>0.936</a:t>
            </a:r>
            <a:endParaRPr lang="en-US" sz="2800" dirty="0"/>
          </a:p>
        </p:txBody>
      </p:sp>
      <p:sp>
        <p:nvSpPr>
          <p:cNvPr id="15" name="Text 12"/>
          <p:cNvSpPr/>
          <p:nvPr/>
        </p:nvSpPr>
        <p:spPr>
          <a:xfrm>
            <a:off x="9372600" y="3493008"/>
            <a:ext cx="2377440" cy="320040"/>
          </a:xfrm>
          <a:prstGeom prst="rect">
            <a:avLst/>
          </a:prstGeom>
          <a:noFill/>
          <a:ln/>
        </p:spPr>
        <p:txBody>
          <a:bodyPr wrap="square" rtlCol="0" anchor="ctr"/>
          <a:lstStyle/>
          <a:p>
            <a:pPr algn="ctr" indent="0" marL="0">
              <a:buNone/>
            </a:pPr>
            <a:r>
              <a:rPr lang="en-US" sz="1200" dirty="0">
                <a:solidFill>
                  <a:srgbClr val="5A6B5A"/>
                </a:solidFill>
                <a:latin typeface="Calibri" pitchFamily="34" charset="0"/>
                <a:ea typeface="Calibri" pitchFamily="34" charset="-122"/>
                <a:cs typeface="Calibri" pitchFamily="34" charset="-120"/>
              </a:rPr>
              <a:t>Recall</a:t>
            </a:r>
            <a:endParaRPr lang="en-US" sz="1200" dirty="0"/>
          </a:p>
        </p:txBody>
      </p:sp>
      <p:sp>
        <p:nvSpPr>
          <p:cNvPr id="16" name="Shape 13"/>
          <p:cNvSpPr/>
          <p:nvPr/>
        </p:nvSpPr>
        <p:spPr>
          <a:xfrm>
            <a:off x="6766560" y="4206240"/>
            <a:ext cx="4983480" cy="1737360"/>
          </a:xfrm>
          <a:prstGeom prst="roundRect">
            <a:avLst>
              <a:gd name="adj" fmla="val 4211"/>
            </a:avLst>
          </a:prstGeom>
          <a:solidFill>
            <a:srgbClr val="F5F5F5"/>
          </a:solidFill>
          <a:ln w="19050">
            <a:solidFill>
              <a:srgbClr val="E07A3E"/>
            </a:solidFill>
            <a:prstDash val="solid"/>
          </a:ln>
        </p:spPr>
      </p:sp>
      <p:sp>
        <p:nvSpPr>
          <p:cNvPr id="17" name="Text 14"/>
          <p:cNvSpPr/>
          <p:nvPr/>
        </p:nvSpPr>
        <p:spPr>
          <a:xfrm>
            <a:off x="6949440" y="4343400"/>
            <a:ext cx="4663440" cy="365760"/>
          </a:xfrm>
          <a:prstGeom prst="rect">
            <a:avLst/>
          </a:prstGeom>
          <a:noFill/>
          <a:ln/>
        </p:spPr>
        <p:txBody>
          <a:bodyPr wrap="square" rtlCol="0" anchor="ctr"/>
          <a:lstStyle/>
          <a:p>
            <a:pPr indent="0" marL="0">
              <a:buNone/>
            </a:pPr>
            <a:r>
              <a:rPr lang="en-US" sz="1500" b="1" dirty="0">
                <a:solidFill>
                  <a:srgbClr val="E07A3E"/>
                </a:solidFill>
                <a:latin typeface="Cambria" pitchFamily="34" charset="0"/>
                <a:ea typeface="Cambria" pitchFamily="34" charset="-122"/>
                <a:cs typeface="Cambria" pitchFamily="34" charset="-120"/>
              </a:rPr>
              <a:t>Weakest class recovered</a:t>
            </a:r>
            <a:endParaRPr lang="en-US" sz="1500" dirty="0"/>
          </a:p>
        </p:txBody>
      </p:sp>
      <p:sp>
        <p:nvSpPr>
          <p:cNvPr id="18" name="Text 15"/>
          <p:cNvSpPr/>
          <p:nvPr/>
        </p:nvSpPr>
        <p:spPr>
          <a:xfrm>
            <a:off x="6949440" y="4754880"/>
            <a:ext cx="4663440" cy="548640"/>
          </a:xfrm>
          <a:prstGeom prst="rect">
            <a:avLst/>
          </a:prstGeom>
          <a:noFill/>
          <a:ln/>
        </p:spPr>
        <p:txBody>
          <a:bodyPr wrap="square" rtlCol="0" anchor="ctr"/>
          <a:lstStyle/>
          <a:p>
            <a:pPr indent="0" marL="0">
              <a:buNone/>
            </a:pPr>
            <a:r>
              <a:rPr lang="en-US" sz="1600" dirty="0">
                <a:solidFill>
                  <a:srgbClr val="1E2B1E"/>
                </a:solidFill>
                <a:latin typeface="Cambria" pitchFamily="34" charset="0"/>
                <a:ea typeface="Cambria" pitchFamily="34" charset="-122"/>
                <a:cs typeface="Cambria" pitchFamily="34" charset="-120"/>
              </a:rPr>
              <a:t>cow recall  </a:t>
            </a:r>
            <a:pPr indent="0" marL="0">
              <a:buNone/>
            </a:pPr>
            <a:r>
              <a:rPr lang="en-US" sz="2200" b="1" dirty="0">
                <a:solidFill>
                  <a:srgbClr val="5A6B5A"/>
                </a:solidFill>
                <a:latin typeface="Cambria" pitchFamily="34" charset="0"/>
                <a:ea typeface="Cambria" pitchFamily="34" charset="-122"/>
                <a:cs typeface="Cambria" pitchFamily="34" charset="-120"/>
              </a:rPr>
              <a:t>0.36</a:t>
            </a:r>
            <a:pPr indent="0" marL="0">
              <a:buNone/>
            </a:pPr>
            <a:r>
              <a:rPr lang="en-US" sz="1800" dirty="0">
                <a:solidFill>
                  <a:srgbClr val="1E2B1E"/>
                </a:solidFill>
                <a:latin typeface="Cambria" pitchFamily="34" charset="0"/>
                <a:ea typeface="Cambria" pitchFamily="34" charset="-122"/>
                <a:cs typeface="Cambria" pitchFamily="34" charset="-120"/>
              </a:rPr>
              <a:t>  →  </a:t>
            </a:r>
            <a:pPr indent="0" marL="0">
              <a:buNone/>
            </a:pPr>
            <a:r>
              <a:rPr lang="en-US" sz="2600" b="1" dirty="0">
                <a:solidFill>
                  <a:srgbClr val="2C5F2D"/>
                </a:solidFill>
                <a:latin typeface="Cambria" pitchFamily="34" charset="0"/>
                <a:ea typeface="Cambria" pitchFamily="34" charset="-122"/>
                <a:cs typeface="Cambria" pitchFamily="34" charset="-120"/>
              </a:rPr>
              <a:t>0.82</a:t>
            </a:r>
            <a:endParaRPr lang="en-US" sz="1600" dirty="0"/>
          </a:p>
        </p:txBody>
      </p:sp>
      <p:sp>
        <p:nvSpPr>
          <p:cNvPr id="19" name="Text 16"/>
          <p:cNvSpPr/>
          <p:nvPr/>
        </p:nvSpPr>
        <p:spPr>
          <a:xfrm>
            <a:off x="6949440" y="5303520"/>
            <a:ext cx="4663440" cy="594360"/>
          </a:xfrm>
          <a:prstGeom prst="rect">
            <a:avLst/>
          </a:prstGeom>
          <a:noFill/>
          <a:ln/>
        </p:spPr>
        <p:txBody>
          <a:bodyPr wrap="square" rtlCol="0" anchor="ctr"/>
          <a:lstStyle/>
          <a:p>
            <a:pPr indent="0" marL="0">
              <a:buNone/>
            </a:pPr>
            <a:r>
              <a:rPr lang="en-US" sz="1250" i="1" dirty="0">
                <a:solidFill>
                  <a:srgbClr val="5A6B5A"/>
                </a:solidFill>
                <a:latin typeface="Calibri" pitchFamily="34" charset="0"/>
                <a:ea typeface="Calibri" pitchFamily="34" charset="-122"/>
                <a:cs typeface="Calibri" pitchFamily="34" charset="-120"/>
              </a:rPr>
              <a:t>Transfer learning sharpened the diagonal — every weak class improved. Test set scored once.</a:t>
            </a:r>
            <a:endParaRPr lang="en-US" sz="1250" dirty="0"/>
          </a:p>
        </p:txBody>
      </p:sp>
      <p:sp>
        <p:nvSpPr>
          <p:cNvPr id="20" name="Text 17"/>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822960"/>
          </a:xfrm>
          <a:prstGeom prst="rect">
            <a:avLst/>
          </a:prstGeom>
          <a:noFill/>
          <a:ln/>
        </p:spPr>
        <p:txBody>
          <a:bodyPr wrap="square"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The web app: upload a photo → prediction</a:t>
            </a:r>
            <a:endParaRPr lang="en-US" sz="3000" dirty="0"/>
          </a:p>
        </p:txBody>
      </p:sp>
      <p:sp>
        <p:nvSpPr>
          <p:cNvPr id="3" name="Text 1"/>
          <p:cNvSpPr/>
          <p:nvPr/>
        </p:nvSpPr>
        <p:spPr>
          <a:xfrm>
            <a:off x="548640" y="1417320"/>
            <a:ext cx="6400800" cy="3840480"/>
          </a:xfrm>
          <a:prstGeom prst="rect">
            <a:avLst/>
          </a:prstGeom>
          <a:noFill/>
          <a:ln/>
        </p:spPr>
        <p:txBody>
          <a:bodyPr wrap="square" rtlCol="0" anchor="t"/>
          <a:lstStyle/>
          <a:p>
            <a:pPr marL="228600" indent="-228600">
              <a:spcAft>
                <a:spcPts val="800"/>
              </a:spcAft>
              <a:buSzPct val="100000"/>
              <a:buChar char="•"/>
            </a:pPr>
            <a:r>
              <a:rPr lang="en-US" sz="1600" b="1" dirty="0">
                <a:solidFill>
                  <a:srgbClr val="1E2B1E"/>
                </a:solidFill>
                <a:latin typeface="Calibri" pitchFamily="34" charset="0"/>
                <a:ea typeface="Calibri" pitchFamily="34" charset="-122"/>
                <a:cs typeface="Calibri" pitchFamily="34" charset="-120"/>
              </a:rPr>
              <a:t>The winning model is wrapped in a Gradio web app (app.py).</a:t>
            </a:r>
            <a:endParaRPr lang="en-US" sz="1600" dirty="0"/>
          </a:p>
          <a:p>
            <a:pPr marL="228600" indent="-228600">
              <a:spcAft>
                <a:spcPts val="800"/>
              </a:spcAft>
              <a:buSzPct val="100000"/>
              <a:buChar char="•"/>
            </a:pPr>
            <a:r>
              <a:rPr lang="en-US" sz="1500" dirty="0">
                <a:solidFill>
                  <a:srgbClr val="1E2B1E"/>
                </a:solidFill>
                <a:latin typeface="Calibri" pitchFamily="34" charset="0"/>
                <a:ea typeface="Calibri" pitchFamily="34" charset="-122"/>
                <a:cs typeface="Calibri" pitchFamily="34" charset="-120"/>
              </a:rPr>
              <a:t>Upload any photo → the model returns its top-3 animals with confidence bars.</a:t>
            </a:r>
            <a:endParaRPr lang="en-US" sz="1600" dirty="0"/>
          </a:p>
          <a:p>
            <a:pPr marL="228600" indent="-228600">
              <a:spcAft>
                <a:spcPts val="800"/>
              </a:spcAft>
              <a:buSzPct val="100000"/>
              <a:buChar char="•"/>
            </a:pPr>
            <a:r>
              <a:rPr lang="en-US" sz="1500" dirty="0">
                <a:solidFill>
                  <a:srgbClr val="1E2B1E"/>
                </a:solidFill>
                <a:latin typeface="Calibri" pitchFamily="34" charset="0"/>
                <a:ea typeface="Calibri" pitchFamily="34" charset="-122"/>
                <a:cs typeface="Calibri" pitchFamily="34" charset="-120"/>
              </a:rPr>
              <a:t>Deployed and working: python app.py opens the app locally plus a temporary public link (bonus completed).</a:t>
            </a:r>
            <a:endParaRPr lang="en-US" sz="1600" dirty="0"/>
          </a:p>
          <a:p>
            <a:pPr marL="228600" indent="-228600">
              <a:spcAft>
                <a:spcPts val="800"/>
              </a:spcAft>
              <a:buSzPct val="100000"/>
              <a:buChar char="•"/>
            </a:pPr>
            <a:r>
              <a:rPr lang="en-US" sz="1500" b="1" dirty="0">
                <a:solidFill>
                  <a:srgbClr val="2C5F2D"/>
                </a:solidFill>
                <a:latin typeface="Calibri" pitchFamily="34" charset="0"/>
                <a:ea typeface="Calibri" pitchFamily="34" charset="-122"/>
                <a:cs typeface="Calibri" pitchFamily="34" charset="-120"/>
              </a:rPr>
              <a:t>The story in one upload: the from-scratch model missed a spotted Appaloosa horse (fell back to the majority class); the transfer model gets it right.</a:t>
            </a:r>
            <a:endParaRPr lang="en-US" sz="1600" dirty="0"/>
          </a:p>
        </p:txBody>
      </p:sp>
      <p:sp>
        <p:nvSpPr>
          <p:cNvPr id="4" name="Shape 2"/>
          <p:cNvSpPr/>
          <p:nvPr/>
        </p:nvSpPr>
        <p:spPr>
          <a:xfrm>
            <a:off x="7452360" y="1554480"/>
            <a:ext cx="4343400" cy="4114800"/>
          </a:xfrm>
          <a:prstGeom prst="roundRect">
            <a:avLst>
              <a:gd name="adj" fmla="val 1778"/>
            </a:avLst>
          </a:prstGeom>
          <a:solidFill>
            <a:srgbClr val="F5F5F5"/>
          </a:solidFill>
          <a:ln w="12700">
            <a:solidFill>
              <a:srgbClr val="97BC62"/>
            </a:solidFill>
            <a:prstDash val="solid"/>
          </a:ln>
        </p:spPr>
      </p:sp>
      <p:pic>
        <p:nvPicPr>
          <p:cNvPr id="5" name="Image 0" descr="C:\Users\GBT H610M-\Documents\ironHack\task\project-2\data\cavallo_OIP---MGqQIhmz3OEPYP-46_xwHaFj.jpeg">    </p:cNvPr>
          <p:cNvPicPr>
            <a:picLocks noChangeAspect="1"/>
          </p:cNvPicPr>
          <p:nvPr/>
        </p:nvPicPr>
        <p:blipFill>
          <a:blip r:embed="rId1"/>
          <a:srcRect l="0" r="0" t="0" b="0"/>
          <a:stretch/>
        </p:blipFill>
        <p:spPr>
          <a:xfrm>
            <a:off x="7772400" y="1828800"/>
            <a:ext cx="3703320" cy="1965960"/>
          </a:xfrm>
          <a:prstGeom prst="ellipse">
            <a:avLst/>
          </a:prstGeom>
        </p:spPr>
      </p:pic>
      <p:sp>
        <p:nvSpPr>
          <p:cNvPr id="6" name="Text 3"/>
          <p:cNvSpPr/>
          <p:nvPr/>
        </p:nvSpPr>
        <p:spPr>
          <a:xfrm>
            <a:off x="7772400" y="3886200"/>
            <a:ext cx="3657600" cy="320040"/>
          </a:xfrm>
          <a:prstGeom prst="rect">
            <a:avLst/>
          </a:prstGeom>
          <a:noFill/>
          <a:ln/>
        </p:spPr>
        <p:txBody>
          <a:bodyPr wrap="square" rtlCol="0" anchor="ctr"/>
          <a:lstStyle/>
          <a:p>
            <a:pPr indent="0" marL="0">
              <a:buNone/>
            </a:pPr>
            <a:r>
              <a:rPr lang="en-US" sz="1200" dirty="0">
                <a:solidFill>
                  <a:srgbClr val="5A6B5A"/>
                </a:solidFill>
                <a:latin typeface="Calibri" pitchFamily="34" charset="0"/>
                <a:ea typeface="Calibri" pitchFamily="34" charset="-122"/>
                <a:cs typeface="Calibri" pitchFamily="34" charset="-120"/>
              </a:rPr>
              <a:t>Prediction</a:t>
            </a:r>
            <a:endParaRPr lang="en-US" sz="1200" dirty="0"/>
          </a:p>
        </p:txBody>
      </p:sp>
      <p:sp>
        <p:nvSpPr>
          <p:cNvPr id="7" name="Text 4"/>
          <p:cNvSpPr/>
          <p:nvPr/>
        </p:nvSpPr>
        <p:spPr>
          <a:xfrm>
            <a:off x="7772400" y="4224528"/>
            <a:ext cx="1005840" cy="365760"/>
          </a:xfrm>
          <a:prstGeom prst="rect">
            <a:avLst/>
          </a:prstGeom>
          <a:noFill/>
          <a:ln/>
        </p:spPr>
        <p:txBody>
          <a:bodyPr wrap="square" rtlCol="0" anchor="ctr"/>
          <a:lstStyle/>
          <a:p>
            <a:pPr indent="0" marL="0">
              <a:buNone/>
            </a:pPr>
            <a:r>
              <a:rPr lang="en-US" sz="1300" b="1" dirty="0">
                <a:solidFill>
                  <a:srgbClr val="1E2B1E"/>
                </a:solidFill>
                <a:latin typeface="Calibri" pitchFamily="34" charset="0"/>
                <a:ea typeface="Calibri" pitchFamily="34" charset="-122"/>
                <a:cs typeface="Calibri" pitchFamily="34" charset="-120"/>
              </a:rPr>
              <a:t>horse</a:t>
            </a:r>
            <a:endParaRPr lang="en-US" sz="1300" dirty="0"/>
          </a:p>
        </p:txBody>
      </p:sp>
      <p:sp>
        <p:nvSpPr>
          <p:cNvPr id="8" name="Shape 5"/>
          <p:cNvSpPr/>
          <p:nvPr/>
        </p:nvSpPr>
        <p:spPr>
          <a:xfrm>
            <a:off x="8778240" y="4297680"/>
            <a:ext cx="2194560" cy="219456"/>
          </a:xfrm>
          <a:prstGeom prst="roundRect">
            <a:avLst>
              <a:gd name="adj" fmla="val 12500"/>
            </a:avLst>
          </a:prstGeom>
          <a:solidFill>
            <a:srgbClr val="E4E9E0"/>
          </a:solidFill>
          <a:ln/>
        </p:spPr>
      </p:sp>
      <p:sp>
        <p:nvSpPr>
          <p:cNvPr id="9" name="Shape 6"/>
          <p:cNvSpPr/>
          <p:nvPr/>
        </p:nvSpPr>
        <p:spPr>
          <a:xfrm>
            <a:off x="8778240" y="4297680"/>
            <a:ext cx="2086661" cy="219456"/>
          </a:xfrm>
          <a:prstGeom prst="roundRect">
            <a:avLst>
              <a:gd name="adj" fmla="val 12500"/>
            </a:avLst>
          </a:prstGeom>
          <a:solidFill>
            <a:srgbClr val="2C5F2D"/>
          </a:solidFill>
          <a:ln/>
        </p:spPr>
      </p:sp>
      <p:sp>
        <p:nvSpPr>
          <p:cNvPr id="10" name="Text 7"/>
          <p:cNvSpPr/>
          <p:nvPr/>
        </p:nvSpPr>
        <p:spPr>
          <a:xfrm>
            <a:off x="11018520" y="4224528"/>
            <a:ext cx="731520" cy="365760"/>
          </a:xfrm>
          <a:prstGeom prst="rect">
            <a:avLst/>
          </a:prstGeom>
          <a:noFill/>
          <a:ln/>
        </p:spPr>
        <p:txBody>
          <a:bodyPr wrap="square" rtlCol="0" anchor="ctr"/>
          <a:lstStyle/>
          <a:p>
            <a:pPr indent="0" marL="0">
              <a:buNone/>
            </a:pPr>
            <a:r>
              <a:rPr lang="en-US" sz="1200" dirty="0">
                <a:solidFill>
                  <a:srgbClr val="1E2B1E"/>
                </a:solidFill>
                <a:latin typeface="Calibri" pitchFamily="34" charset="0"/>
                <a:ea typeface="Calibri" pitchFamily="34" charset="-122"/>
                <a:cs typeface="Calibri" pitchFamily="34" charset="-120"/>
              </a:rPr>
              <a:t>93%</a:t>
            </a:r>
            <a:endParaRPr lang="en-US" sz="1200" dirty="0"/>
          </a:p>
        </p:txBody>
      </p:sp>
      <p:sp>
        <p:nvSpPr>
          <p:cNvPr id="11" name="Text 8"/>
          <p:cNvSpPr/>
          <p:nvPr/>
        </p:nvSpPr>
        <p:spPr>
          <a:xfrm>
            <a:off x="7772400" y="4681728"/>
            <a:ext cx="1005840" cy="36576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cow</a:t>
            </a:r>
            <a:endParaRPr lang="en-US" sz="1300" dirty="0"/>
          </a:p>
        </p:txBody>
      </p:sp>
      <p:sp>
        <p:nvSpPr>
          <p:cNvPr id="12" name="Shape 9"/>
          <p:cNvSpPr/>
          <p:nvPr/>
        </p:nvSpPr>
        <p:spPr>
          <a:xfrm>
            <a:off x="8778240" y="4754880"/>
            <a:ext cx="2194560" cy="219456"/>
          </a:xfrm>
          <a:prstGeom prst="roundRect">
            <a:avLst>
              <a:gd name="adj" fmla="val 12500"/>
            </a:avLst>
          </a:prstGeom>
          <a:solidFill>
            <a:srgbClr val="E4E9E0"/>
          </a:solidFill>
          <a:ln/>
        </p:spPr>
      </p:sp>
      <p:sp>
        <p:nvSpPr>
          <p:cNvPr id="13" name="Shape 10"/>
          <p:cNvSpPr/>
          <p:nvPr/>
        </p:nvSpPr>
        <p:spPr>
          <a:xfrm>
            <a:off x="8778240" y="4754880"/>
            <a:ext cx="133502" cy="219456"/>
          </a:xfrm>
          <a:prstGeom prst="roundRect">
            <a:avLst>
              <a:gd name="adj" fmla="val 20548"/>
            </a:avLst>
          </a:prstGeom>
          <a:solidFill>
            <a:srgbClr val="97BC62"/>
          </a:solidFill>
          <a:ln/>
        </p:spPr>
      </p:sp>
      <p:sp>
        <p:nvSpPr>
          <p:cNvPr id="14" name="Text 11"/>
          <p:cNvSpPr/>
          <p:nvPr/>
        </p:nvSpPr>
        <p:spPr>
          <a:xfrm>
            <a:off x="11018520" y="4681728"/>
            <a:ext cx="731520" cy="365760"/>
          </a:xfrm>
          <a:prstGeom prst="rect">
            <a:avLst/>
          </a:prstGeom>
          <a:noFill/>
          <a:ln/>
        </p:spPr>
        <p:txBody>
          <a:bodyPr wrap="square" rtlCol="0" anchor="ctr"/>
          <a:lstStyle/>
          <a:p>
            <a:pPr indent="0" marL="0">
              <a:buNone/>
            </a:pPr>
            <a:r>
              <a:rPr lang="en-US" sz="1200" dirty="0">
                <a:solidFill>
                  <a:srgbClr val="1E2B1E"/>
                </a:solidFill>
                <a:latin typeface="Calibri" pitchFamily="34" charset="0"/>
                <a:ea typeface="Calibri" pitchFamily="34" charset="-122"/>
                <a:cs typeface="Calibri" pitchFamily="34" charset="-120"/>
              </a:rPr>
              <a:t>4%</a:t>
            </a:r>
            <a:endParaRPr lang="en-US" sz="1200" dirty="0"/>
          </a:p>
        </p:txBody>
      </p:sp>
      <p:sp>
        <p:nvSpPr>
          <p:cNvPr id="15" name="Text 12"/>
          <p:cNvSpPr/>
          <p:nvPr/>
        </p:nvSpPr>
        <p:spPr>
          <a:xfrm>
            <a:off x="7772400" y="5138928"/>
            <a:ext cx="1005840" cy="365760"/>
          </a:xfrm>
          <a:prstGeom prst="rect">
            <a:avLst/>
          </a:prstGeom>
          <a:noFill/>
          <a:ln/>
        </p:spPr>
        <p:txBody>
          <a:bodyPr wrap="square" rtlCol="0" anchor="ctr"/>
          <a:lstStyle/>
          <a:p>
            <a:pPr indent="0" marL="0">
              <a:buNone/>
            </a:pPr>
            <a:r>
              <a:rPr lang="en-US" sz="1300" dirty="0">
                <a:solidFill>
                  <a:srgbClr val="1E2B1E"/>
                </a:solidFill>
                <a:latin typeface="Calibri" pitchFamily="34" charset="0"/>
                <a:ea typeface="Calibri" pitchFamily="34" charset="-122"/>
                <a:cs typeface="Calibri" pitchFamily="34" charset="-120"/>
              </a:rPr>
              <a:t>dog</a:t>
            </a:r>
            <a:endParaRPr lang="en-US" sz="1300" dirty="0"/>
          </a:p>
        </p:txBody>
      </p:sp>
      <p:sp>
        <p:nvSpPr>
          <p:cNvPr id="16" name="Shape 13"/>
          <p:cNvSpPr/>
          <p:nvPr/>
        </p:nvSpPr>
        <p:spPr>
          <a:xfrm>
            <a:off x="8778240" y="5212080"/>
            <a:ext cx="2194560" cy="219456"/>
          </a:xfrm>
          <a:prstGeom prst="roundRect">
            <a:avLst>
              <a:gd name="adj" fmla="val 12500"/>
            </a:avLst>
          </a:prstGeom>
          <a:solidFill>
            <a:srgbClr val="E4E9E0"/>
          </a:solidFill>
          <a:ln/>
        </p:spPr>
      </p:sp>
      <p:sp>
        <p:nvSpPr>
          <p:cNvPr id="17" name="Shape 14"/>
          <p:cNvSpPr/>
          <p:nvPr/>
        </p:nvSpPr>
        <p:spPr>
          <a:xfrm>
            <a:off x="8778240" y="5212080"/>
            <a:ext cx="89611" cy="219456"/>
          </a:xfrm>
          <a:prstGeom prst="roundRect">
            <a:avLst>
              <a:gd name="adj" fmla="val 30612"/>
            </a:avLst>
          </a:prstGeom>
          <a:solidFill>
            <a:srgbClr val="97BC62"/>
          </a:solidFill>
          <a:ln/>
        </p:spPr>
      </p:sp>
      <p:sp>
        <p:nvSpPr>
          <p:cNvPr id="18" name="Text 15"/>
          <p:cNvSpPr/>
          <p:nvPr/>
        </p:nvSpPr>
        <p:spPr>
          <a:xfrm>
            <a:off x="11018520" y="5138928"/>
            <a:ext cx="731520" cy="365760"/>
          </a:xfrm>
          <a:prstGeom prst="rect">
            <a:avLst/>
          </a:prstGeom>
          <a:noFill/>
          <a:ln/>
        </p:spPr>
        <p:txBody>
          <a:bodyPr wrap="square" rtlCol="0" anchor="ctr"/>
          <a:lstStyle/>
          <a:p>
            <a:pPr indent="0" marL="0">
              <a:buNone/>
            </a:pPr>
            <a:r>
              <a:rPr lang="en-US" sz="1200" dirty="0">
                <a:solidFill>
                  <a:srgbClr val="1E2B1E"/>
                </a:solidFill>
                <a:latin typeface="Calibri" pitchFamily="34" charset="0"/>
                <a:ea typeface="Calibri" pitchFamily="34" charset="-122"/>
                <a:cs typeface="Calibri" pitchFamily="34" charset="-120"/>
              </a:rPr>
              <a:t>2%</a:t>
            </a:r>
            <a:endParaRPr lang="en-US" sz="1200" dirty="0"/>
          </a:p>
        </p:txBody>
      </p:sp>
      <p:sp>
        <p:nvSpPr>
          <p:cNvPr id="19" name="Text 16"/>
          <p:cNvSpPr/>
          <p:nvPr/>
        </p:nvSpPr>
        <p:spPr>
          <a:xfrm>
            <a:off x="7452360" y="5687568"/>
            <a:ext cx="4343400" cy="320040"/>
          </a:xfrm>
          <a:prstGeom prst="rect">
            <a:avLst/>
          </a:prstGeom>
          <a:noFill/>
          <a:ln/>
        </p:spPr>
        <p:txBody>
          <a:bodyPr wrap="square" rtlCol="0" anchor="ctr"/>
          <a:lstStyle/>
          <a:p>
            <a:pPr algn="ctr" indent="0" marL="0">
              <a:buNone/>
            </a:pPr>
            <a:r>
              <a:rPr lang="en-US" sz="1050" i="1" dirty="0">
                <a:solidFill>
                  <a:srgbClr val="5A6B5A"/>
                </a:solidFill>
              </a:rPr>
              <a:t>Illustration of the Gradio output</a:t>
            </a:r>
            <a:endParaRPr lang="en-US" sz="1050" dirty="0"/>
          </a:p>
        </p:txBody>
      </p:sp>
      <p:sp>
        <p:nvSpPr>
          <p:cNvPr id="20" name="Text 17"/>
          <p:cNvSpPr/>
          <p:nvPr/>
        </p:nvSpPr>
        <p:spPr>
          <a:xfrm>
            <a:off x="548640" y="5806440"/>
            <a:ext cx="6583680" cy="457200"/>
          </a:xfrm>
          <a:prstGeom prst="rect">
            <a:avLst/>
          </a:prstGeom>
          <a:noFill/>
          <a:ln/>
        </p:spPr>
        <p:txBody>
          <a:bodyPr wrap="square" rtlCol="0" anchor="ctr"/>
          <a:lstStyle/>
          <a:p>
            <a:pPr indent="0" marL="0">
              <a:buNone/>
            </a:pPr>
            <a:r>
              <a:rPr lang="en-US" sz="1500" b="1" dirty="0">
                <a:solidFill>
                  <a:srgbClr val="E07A3E"/>
                </a:solidFill>
                <a:latin typeface="Calibri" pitchFamily="34" charset="0"/>
                <a:ea typeface="Calibri" pitchFamily="34" charset="-122"/>
                <a:cs typeface="Calibri" pitchFamily="34" charset="-120"/>
              </a:rPr>
              <a:t>Try it yourself:  python app.py</a:t>
            </a:r>
            <a:endParaRPr lang="en-US" sz="1500" dirty="0"/>
          </a:p>
        </p:txBody>
      </p:sp>
      <p:sp>
        <p:nvSpPr>
          <p:cNvPr id="21" name="Text 18"/>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5A6B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B1E"/>
        </a:solidFill>
      </p:bgPr>
    </p:bg>
    <p:spTree>
      <p:nvGrpSpPr>
        <p:cNvPr id="1" name=""/>
        <p:cNvGrpSpPr/>
        <p:nvPr/>
      </p:nvGrpSpPr>
      <p:grpSpPr>
        <a:xfrm>
          <a:off x="0" y="0"/>
          <a:ext cx="0" cy="0"/>
          <a:chOff x="0" y="0"/>
          <a:chExt cx="0" cy="0"/>
        </a:xfrm>
      </p:grpSpPr>
      <p:sp>
        <p:nvSpPr>
          <p:cNvPr id="2" name="Shape 0"/>
          <p:cNvSpPr/>
          <p:nvPr/>
        </p:nvSpPr>
        <p:spPr>
          <a:xfrm>
            <a:off x="9692640" y="-1554480"/>
            <a:ext cx="4023360" cy="4023360"/>
          </a:xfrm>
          <a:prstGeom prst="ellipse">
            <a:avLst/>
          </a:prstGeom>
          <a:solidFill>
            <a:srgbClr val="2C5F2D"/>
          </a:solidFill>
          <a:ln/>
        </p:spPr>
      </p:sp>
      <p:sp>
        <p:nvSpPr>
          <p:cNvPr id="3" name="Text 1"/>
          <p:cNvSpPr/>
          <p:nvPr/>
        </p:nvSpPr>
        <p:spPr>
          <a:xfrm>
            <a:off x="640080" y="502920"/>
            <a:ext cx="1097280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Recap &amp; learnings</a:t>
            </a:r>
            <a:endParaRPr lang="en-US" sz="3200" dirty="0"/>
          </a:p>
        </p:txBody>
      </p:sp>
      <p:sp>
        <p:nvSpPr>
          <p:cNvPr id="4" name="Shape 2"/>
          <p:cNvSpPr/>
          <p:nvPr/>
        </p:nvSpPr>
        <p:spPr>
          <a:xfrm>
            <a:off x="685800" y="1554480"/>
            <a:ext cx="548640" cy="548640"/>
          </a:xfrm>
          <a:prstGeom prst="ellipse">
            <a:avLst/>
          </a:prstGeom>
          <a:solidFill>
            <a:srgbClr val="E07A3E"/>
          </a:solidFill>
          <a:ln/>
        </p:spPr>
      </p:sp>
      <p:sp>
        <p:nvSpPr>
          <p:cNvPr id="5" name="Text 3"/>
          <p:cNvSpPr/>
          <p:nvPr/>
        </p:nvSpPr>
        <p:spPr>
          <a:xfrm>
            <a:off x="685800" y="155448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417320" y="1508760"/>
            <a:ext cx="4480560" cy="54864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Architecture matters</a:t>
            </a:r>
            <a:endParaRPr lang="en-US" sz="1800" dirty="0"/>
          </a:p>
        </p:txBody>
      </p:sp>
      <p:sp>
        <p:nvSpPr>
          <p:cNvPr id="7" name="Text 5"/>
          <p:cNvSpPr/>
          <p:nvPr/>
        </p:nvSpPr>
        <p:spPr>
          <a:xfrm>
            <a:off x="5943600" y="1508760"/>
            <a:ext cx="5760720" cy="640080"/>
          </a:xfrm>
          <a:prstGeom prst="rect">
            <a:avLst/>
          </a:prstGeom>
          <a:noFill/>
          <a:ln/>
        </p:spPr>
        <p:txBody>
          <a:bodyPr wrap="square" rtlCol="0" anchor="ctr"/>
          <a:lstStyle/>
          <a:p>
            <a:pPr indent="0" marL="0">
              <a:buNone/>
            </a:pPr>
            <a:r>
              <a:rPr lang="en-US" sz="1400" dirty="0">
                <a:solidFill>
                  <a:srgbClr val="F5F5F5"/>
                </a:solidFill>
                <a:latin typeface="Calibri" pitchFamily="34" charset="0"/>
                <a:ea typeface="Calibri" pitchFamily="34" charset="-122"/>
                <a:cs typeface="Calibri" pitchFamily="34" charset="-120"/>
              </a:rPr>
              <a:t>Global Average Pooling beat Flatten — 74% from scratch, less overfitting.</a:t>
            </a:r>
            <a:endParaRPr lang="en-US" sz="1400" dirty="0"/>
          </a:p>
        </p:txBody>
      </p:sp>
      <p:sp>
        <p:nvSpPr>
          <p:cNvPr id="8" name="Shape 6"/>
          <p:cNvSpPr/>
          <p:nvPr/>
        </p:nvSpPr>
        <p:spPr>
          <a:xfrm>
            <a:off x="685800" y="2487168"/>
            <a:ext cx="548640" cy="548640"/>
          </a:xfrm>
          <a:prstGeom prst="ellipse">
            <a:avLst/>
          </a:prstGeom>
          <a:solidFill>
            <a:srgbClr val="E07A3E"/>
          </a:solidFill>
          <a:ln/>
        </p:spPr>
      </p:sp>
      <p:sp>
        <p:nvSpPr>
          <p:cNvPr id="9" name="Text 7"/>
          <p:cNvSpPr/>
          <p:nvPr/>
        </p:nvSpPr>
        <p:spPr>
          <a:xfrm>
            <a:off x="685800" y="2487168"/>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417320" y="2441448"/>
            <a:ext cx="4480560" cy="54864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Transfer learning wins</a:t>
            </a:r>
            <a:endParaRPr lang="en-US" sz="1800" dirty="0"/>
          </a:p>
        </p:txBody>
      </p:sp>
      <p:sp>
        <p:nvSpPr>
          <p:cNvPr id="11" name="Text 9"/>
          <p:cNvSpPr/>
          <p:nvPr/>
        </p:nvSpPr>
        <p:spPr>
          <a:xfrm>
            <a:off x="5943600" y="2441448"/>
            <a:ext cx="5760720" cy="640080"/>
          </a:xfrm>
          <a:prstGeom prst="rect">
            <a:avLst/>
          </a:prstGeom>
          <a:noFill/>
          <a:ln/>
        </p:spPr>
        <p:txBody>
          <a:bodyPr wrap="square" rtlCol="0" anchor="ctr"/>
          <a:lstStyle/>
          <a:p>
            <a:pPr indent="0" marL="0">
              <a:buNone/>
            </a:pPr>
            <a:r>
              <a:rPr lang="en-US" sz="1400" dirty="0">
                <a:solidFill>
                  <a:srgbClr val="F5F5F5"/>
                </a:solidFill>
                <a:latin typeface="Calibri" pitchFamily="34" charset="0"/>
                <a:ea typeface="Calibri" pitchFamily="34" charset="-122"/>
                <a:cs typeface="Calibri" pitchFamily="34" charset="-120"/>
              </a:rPr>
              <a:t>MobileNetV2 → 94% test accuracy in ¼ of the training time.</a:t>
            </a:r>
            <a:endParaRPr lang="en-US" sz="1400" dirty="0"/>
          </a:p>
        </p:txBody>
      </p:sp>
      <p:sp>
        <p:nvSpPr>
          <p:cNvPr id="12" name="Shape 10"/>
          <p:cNvSpPr/>
          <p:nvPr/>
        </p:nvSpPr>
        <p:spPr>
          <a:xfrm>
            <a:off x="685800" y="3419856"/>
            <a:ext cx="548640" cy="548640"/>
          </a:xfrm>
          <a:prstGeom prst="ellipse">
            <a:avLst/>
          </a:prstGeom>
          <a:solidFill>
            <a:srgbClr val="E07A3E"/>
          </a:solidFill>
          <a:ln/>
        </p:spPr>
      </p:sp>
      <p:sp>
        <p:nvSpPr>
          <p:cNvPr id="13" name="Text 11"/>
          <p:cNvSpPr/>
          <p:nvPr/>
        </p:nvSpPr>
        <p:spPr>
          <a:xfrm>
            <a:off x="685800" y="3419856"/>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417320" y="3374136"/>
            <a:ext cx="4480560" cy="54864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Augmentation didn't help here</a:t>
            </a:r>
            <a:endParaRPr lang="en-US" sz="1800" dirty="0"/>
          </a:p>
        </p:txBody>
      </p:sp>
      <p:sp>
        <p:nvSpPr>
          <p:cNvPr id="15" name="Text 13"/>
          <p:cNvSpPr/>
          <p:nvPr/>
        </p:nvSpPr>
        <p:spPr>
          <a:xfrm>
            <a:off x="5943600" y="3374136"/>
            <a:ext cx="5760720" cy="640080"/>
          </a:xfrm>
          <a:prstGeom prst="rect">
            <a:avLst/>
          </a:prstGeom>
          <a:noFill/>
          <a:ln/>
        </p:spPr>
        <p:txBody>
          <a:bodyPr wrap="square" rtlCol="0" anchor="ctr"/>
          <a:lstStyle/>
          <a:p>
            <a:pPr indent="0" marL="0">
              <a:buNone/>
            </a:pPr>
            <a:r>
              <a:rPr lang="en-US" sz="1400" dirty="0">
                <a:solidFill>
                  <a:srgbClr val="F5F5F5"/>
                </a:solidFill>
                <a:latin typeface="Calibri" pitchFamily="34" charset="0"/>
                <a:ea typeface="Calibri" pitchFamily="34" charset="-122"/>
                <a:cs typeface="Calibri" pitchFamily="34" charset="-120"/>
              </a:rPr>
              <a:t>Tested 3× across both tracks — always below the plain model.</a:t>
            </a:r>
            <a:endParaRPr lang="en-US" sz="1400" dirty="0"/>
          </a:p>
        </p:txBody>
      </p:sp>
      <p:sp>
        <p:nvSpPr>
          <p:cNvPr id="16" name="Shape 14"/>
          <p:cNvSpPr/>
          <p:nvPr/>
        </p:nvSpPr>
        <p:spPr>
          <a:xfrm>
            <a:off x="685800" y="4352544"/>
            <a:ext cx="548640" cy="548640"/>
          </a:xfrm>
          <a:prstGeom prst="ellipse">
            <a:avLst/>
          </a:prstGeom>
          <a:solidFill>
            <a:srgbClr val="E07A3E"/>
          </a:solidFill>
          <a:ln/>
        </p:spPr>
      </p:sp>
      <p:sp>
        <p:nvSpPr>
          <p:cNvPr id="17" name="Text 15"/>
          <p:cNvSpPr/>
          <p:nvPr/>
        </p:nvSpPr>
        <p:spPr>
          <a:xfrm>
            <a:off x="685800" y="4352544"/>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417320" y="4306824"/>
            <a:ext cx="4480560" cy="54864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Honest evaluation</a:t>
            </a:r>
            <a:endParaRPr lang="en-US" sz="1800" dirty="0"/>
          </a:p>
        </p:txBody>
      </p:sp>
      <p:sp>
        <p:nvSpPr>
          <p:cNvPr id="19" name="Text 17"/>
          <p:cNvSpPr/>
          <p:nvPr/>
        </p:nvSpPr>
        <p:spPr>
          <a:xfrm>
            <a:off x="5943600" y="4306824"/>
            <a:ext cx="5760720" cy="640080"/>
          </a:xfrm>
          <a:prstGeom prst="rect">
            <a:avLst/>
          </a:prstGeom>
          <a:noFill/>
          <a:ln/>
        </p:spPr>
        <p:txBody>
          <a:bodyPr wrap="square" rtlCol="0" anchor="ctr"/>
          <a:lstStyle/>
          <a:p>
            <a:pPr indent="0" marL="0">
              <a:buNone/>
            </a:pPr>
            <a:r>
              <a:rPr lang="en-US" sz="1400" dirty="0">
                <a:solidFill>
                  <a:srgbClr val="F5F5F5"/>
                </a:solidFill>
                <a:latin typeface="Calibri" pitchFamily="34" charset="0"/>
                <a:ea typeface="Calibri" pitchFamily="34" charset="-122"/>
                <a:cs typeface="Calibri" pitchFamily="34" charset="-120"/>
              </a:rPr>
              <a:t>Ranked on validation; the test set was scored only once, on the winner.</a:t>
            </a:r>
            <a:endParaRPr lang="en-US" sz="1400" dirty="0"/>
          </a:p>
        </p:txBody>
      </p:sp>
      <p:sp>
        <p:nvSpPr>
          <p:cNvPr id="20" name="Text 18"/>
          <p:cNvSpPr/>
          <p:nvPr/>
        </p:nvSpPr>
        <p:spPr>
          <a:xfrm>
            <a:off x="685800" y="5440680"/>
            <a:ext cx="10972800" cy="457200"/>
          </a:xfrm>
          <a:prstGeom prst="rect">
            <a:avLst/>
          </a:prstGeom>
          <a:noFill/>
          <a:ln/>
        </p:spPr>
        <p:txBody>
          <a:bodyPr wrap="square" rtlCol="0" anchor="ctr"/>
          <a:lstStyle/>
          <a:p>
            <a:pPr indent="0" marL="0">
              <a:buNone/>
            </a:pPr>
            <a:r>
              <a:rPr lang="en-US" sz="1500" b="1" dirty="0">
                <a:solidFill>
                  <a:srgbClr val="E07A3E"/>
                </a:solidFill>
                <a:latin typeface="Calibri" pitchFamily="34" charset="0"/>
                <a:ea typeface="Calibri" pitchFamily="34" charset="-122"/>
                <a:cs typeface="Calibri" pitchFamily="34" charset="-120"/>
              </a:rPr>
              <a:t>Next steps:  </a:t>
            </a:r>
            <a:pPr indent="0" marL="0">
              <a:buNone/>
            </a:pPr>
            <a:r>
              <a:rPr lang="en-US" sz="1500" dirty="0">
                <a:solidFill>
                  <a:srgbClr val="F5F5F5"/>
                </a:solidFill>
                <a:latin typeface="Calibri" pitchFamily="34" charset="0"/>
                <a:ea typeface="Calibri" pitchFamily="34" charset="-122"/>
                <a:cs typeface="Calibri" pitchFamily="34" charset="-120"/>
              </a:rPr>
              <a:t>fine-tune the top MobileNetV2 layers · tackle class imbalance directly.</a:t>
            </a:r>
            <a:endParaRPr lang="en-US" sz="1500" dirty="0"/>
          </a:p>
        </p:txBody>
      </p:sp>
      <p:sp>
        <p:nvSpPr>
          <p:cNvPr id="21" name="Text 19"/>
          <p:cNvSpPr/>
          <p:nvPr/>
        </p:nvSpPr>
        <p:spPr>
          <a:xfrm>
            <a:off x="685800" y="5989320"/>
            <a:ext cx="10972800" cy="45720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Thank you — Muhanad Tello</a:t>
            </a:r>
            <a:endParaRPr lang="en-US" sz="1600" dirty="0"/>
          </a:p>
        </p:txBody>
      </p:sp>
      <p:sp>
        <p:nvSpPr>
          <p:cNvPr id="22" name="Text 20"/>
          <p:cNvSpPr/>
          <p:nvPr/>
        </p:nvSpPr>
        <p:spPr>
          <a:xfrm>
            <a:off x="11430000" y="6419088"/>
            <a:ext cx="548640" cy="320040"/>
          </a:xfrm>
          <a:prstGeom prst="rect">
            <a:avLst/>
          </a:prstGeom>
          <a:noFill/>
          <a:ln/>
        </p:spPr>
        <p:txBody>
          <a:bodyPr wrap="square" rtlCol="0" anchor="ctr"/>
          <a:lstStyle/>
          <a:p>
            <a:pPr algn="r" indent="0" marL="0">
              <a:buNone/>
            </a:pPr>
            <a:r>
              <a:rPr lang="en-US" sz="1000" dirty="0">
                <a:solidFill>
                  <a:srgbClr val="97BC6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2026-07-03T10:01:16Z</dcterms:created>
  <dcterms:modified xsi:type="dcterms:W3CDTF">2026-07-03T10:01:16Z</dcterms:modified>
</cp:coreProperties>
</file>